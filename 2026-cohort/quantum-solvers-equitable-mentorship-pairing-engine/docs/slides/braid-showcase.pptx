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embeddedFontLst>
    <p:embeddedFont>
      <p:font typeface="JetBrains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JetBrainsMono-bold.fntdata"/><Relationship Id="rId14" Type="http://schemas.openxmlformats.org/officeDocument/2006/relationships/font" Target="fonts/JetBrainsMono-regular.fntdata"/><Relationship Id="rId17" Type="http://schemas.openxmlformats.org/officeDocument/2006/relationships/font" Target="fonts/JetBrainsMono-boldItalic.fntdata"/><Relationship Id="rId16" Type="http://schemas.openxmlformats.org/officeDocument/2006/relationships/font" Target="fonts/JetBrains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73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624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77240" y="141732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296B8"/>
                </a:solidFill>
                <a:latin typeface="Arial"/>
                <a:ea typeface="Arial"/>
                <a:cs typeface="Arial"/>
                <a:sym typeface="Arial"/>
              </a:rPr>
              <a:t>MMC × GROW WITH GOOGLE · 2026 COHORT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77240" y="1965960"/>
            <a:ext cx="10424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Braid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77240" y="320040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An equitable mentorship pairing engine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77240" y="3977639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296B8"/>
                </a:solidFill>
                <a:latin typeface="Arial"/>
                <a:ea typeface="Arial"/>
                <a:cs typeface="Arial"/>
                <a:sym typeface="Arial"/>
              </a:rPr>
              <a:t>Mentorship shouldn't depend on who you already know.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777240" y="4846320"/>
            <a:ext cx="4206240" cy="27432"/>
          </a:xfrm>
          <a:prstGeom prst="rect">
            <a:avLst/>
          </a:prstGeom>
          <a:solidFill>
            <a:srgbClr val="6B55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77240" y="516636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Team Quantum Solvers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7B6C60"/>
                </a:solidFill>
                <a:latin typeface="Arial"/>
                <a:ea typeface="Arial"/>
                <a:cs typeface="Arial"/>
                <a:sym typeface="Arial"/>
              </a:rPr>
              <a:t>UN SDG 5 — Gender Equality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6246E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77240" y="914400"/>
            <a:ext cx="1005840" cy="41148"/>
          </a:xfrm>
          <a:prstGeom prst="rect">
            <a:avLst/>
          </a:prstGeom>
          <a:solidFill>
            <a:srgbClr val="D624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77240" y="1234440"/>
            <a:ext cx="10241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Early-career women in technical fields face systemic</a:t>
            </a:r>
            <a:br>
              <a:rPr b="1" lang="en-US" sz="34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isolation from professional networks.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77240" y="2834640"/>
            <a:ext cx="3200400" cy="205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097280" y="31089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624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35%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97280" y="379476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of STEM graduates globally are women — largely unmoved for a decade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97280" y="455371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B6C60"/>
                </a:solidFill>
                <a:latin typeface="Arial"/>
                <a:ea typeface="Arial"/>
                <a:cs typeface="Arial"/>
                <a:sym typeface="Arial"/>
              </a:rPr>
              <a:t>UNESCO, 2025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4206240" y="2834640"/>
            <a:ext cx="3200400" cy="205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526279" y="31089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624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26%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526279" y="379476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of the data and AI workforce are women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526279" y="455371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B6C60"/>
                </a:solidFill>
                <a:latin typeface="Arial"/>
                <a:ea typeface="Arial"/>
                <a:cs typeface="Arial"/>
                <a:sym typeface="Arial"/>
              </a:rPr>
              <a:t>UNESCO, 2025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635240" y="2834640"/>
            <a:ext cx="3200400" cy="205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955279" y="31089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624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230M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955279" y="379476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women in Sub-Saharan Africa do not use mobile internet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955279" y="455371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B6C60"/>
                </a:solidFill>
                <a:latin typeface="Arial"/>
                <a:ea typeface="Arial"/>
                <a:cs typeface="Arial"/>
                <a:sym typeface="Arial"/>
              </a:rPr>
              <a:t>GSMA, 2026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77240" y="52578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So why isn't mentorship already solving this?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Most programmes run on informal networks and manual pairing. Informal networking favours people who already have access — the wrong property for a system meant to widen it. And a matching spreadsheet stops scaling around thirty participants, right when a programme starts to matter.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77240" y="6447543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B6C60"/>
                </a:solidFill>
                <a:latin typeface="Arial"/>
                <a:ea typeface="Arial"/>
                <a:cs typeface="Arial"/>
                <a:sym typeface="Arial"/>
              </a:rPr>
              <a:t>Braid · Team Quantum Solvers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317175" y="61996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B6C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6246E"/>
                </a:solidFill>
                <a:latin typeface="Arial"/>
                <a:ea typeface="Arial"/>
                <a:cs typeface="Arial"/>
                <a:sym typeface="Arial"/>
              </a:rPr>
              <a:t>WHAT BRAID DOES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777240" y="914400"/>
            <a:ext cx="1005840" cy="41148"/>
          </a:xfrm>
          <a:prstGeom prst="rect">
            <a:avLst/>
          </a:prstGeom>
          <a:solidFill>
            <a:srgbClr val="D624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777240" y="1234440"/>
            <a:ext cx="10241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One platform for the whole programme lifecycle.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777240" y="2697480"/>
            <a:ext cx="1966508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777240" y="2697480"/>
            <a:ext cx="1966508" cy="64008"/>
          </a:xfrm>
          <a:prstGeom prst="rect">
            <a:avLst/>
          </a:prstGeom>
          <a:solidFill>
            <a:srgbClr val="D624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1005840" y="3017520"/>
            <a:ext cx="15093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B6C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05840" y="3364992"/>
            <a:ext cx="15093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Apply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05840" y="3794760"/>
            <a:ext cx="15093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Dynamic application forms, configurable per programme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2944916" y="2697480"/>
            <a:ext cx="1966508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2944916" y="2697480"/>
            <a:ext cx="1966508" cy="64008"/>
          </a:xfrm>
          <a:prstGeom prst="rect">
            <a:avLst/>
          </a:prstGeom>
          <a:solidFill>
            <a:srgbClr val="D624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3173516" y="3017520"/>
            <a:ext cx="15093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B6C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3173516" y="3364992"/>
            <a:ext cx="15093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Match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3173516" y="3794760"/>
            <a:ext cx="15093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Five-stage engine solves the cohort in one pass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112593" y="2697480"/>
            <a:ext cx="1966508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112593" y="2697480"/>
            <a:ext cx="1966508" cy="64008"/>
          </a:xfrm>
          <a:prstGeom prst="rect">
            <a:avLst/>
          </a:prstGeom>
          <a:solidFill>
            <a:srgbClr val="D624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5341193" y="3017520"/>
            <a:ext cx="15093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B6C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341193" y="3364992"/>
            <a:ext cx="15093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5341193" y="3794760"/>
            <a:ext cx="15093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Coordinators see every pair and its reasoning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7280269" y="2697480"/>
            <a:ext cx="1966508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7280269" y="2697480"/>
            <a:ext cx="1966508" cy="64008"/>
          </a:xfrm>
          <a:prstGeom prst="rect">
            <a:avLst/>
          </a:prstGeom>
          <a:solidFill>
            <a:srgbClr val="D624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7508869" y="3017520"/>
            <a:ext cx="15093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B6C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7508869" y="3364992"/>
            <a:ext cx="15093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Publish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7508869" y="3794760"/>
            <a:ext cx="15093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Approved pairs become live strands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9447946" y="2697480"/>
            <a:ext cx="1966508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9447946" y="2697480"/>
            <a:ext cx="1966508" cy="64008"/>
          </a:xfrm>
          <a:prstGeom prst="rect">
            <a:avLst/>
          </a:prstGeom>
          <a:solidFill>
            <a:srgbClr val="0A7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9676546" y="3017520"/>
            <a:ext cx="15093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B6C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9676546" y="3364992"/>
            <a:ext cx="15093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9676546" y="3794760"/>
            <a:ext cx="15093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Coverage, funnel and fairness, with consent respected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777240" y="52578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Not a prototype.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All 60 operations in the OpenAPI contract are implemented against a real FastAPI backend. 49 API paths · 60 operations · 33 frontend pages · 54 Python modules. No screen depends on a mock.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777240" y="61996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B6C60"/>
                </a:solidFill>
                <a:latin typeface="Arial"/>
                <a:ea typeface="Arial"/>
                <a:cs typeface="Arial"/>
                <a:sym typeface="Arial"/>
              </a:rPr>
              <a:t>Braid · Team Quantum Solvers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10317175" y="61996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B6C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6246E"/>
                </a:solidFill>
                <a:latin typeface="Arial"/>
                <a:ea typeface="Arial"/>
                <a:cs typeface="Arial"/>
                <a:sym typeface="Arial"/>
              </a:rPr>
              <a:t>THE MATCHING ENGINE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777240" y="914400"/>
            <a:ext cx="1005840" cy="41148"/>
          </a:xfrm>
          <a:prstGeom prst="rect">
            <a:avLst/>
          </a:prstGeom>
          <a:solidFill>
            <a:srgbClr val="D624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777240" y="1234440"/>
            <a:ext cx="10241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Five stages, and the fourth is the one that matters.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777240" y="2697480"/>
            <a:ext cx="54864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1033271" y="28529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B6C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1554480" y="283464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Normalise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3063240" y="286207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Answers become comparable values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777240" y="3355848"/>
            <a:ext cx="54864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1033271" y="351129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B6C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554480" y="349300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Eligibility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3063240" y="352044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Hard constraints — capacity, language, conflict of interest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777240" y="4014215"/>
            <a:ext cx="54864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1033271" y="4169663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B6C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554480" y="4151376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Fit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3063240" y="4178807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Jaccard overlap on options, closeness on numbers, 0 to 1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777240" y="4672583"/>
            <a:ext cx="54864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1033271" y="4828031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B6C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1554480" y="4809744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Priority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3063240" y="4837175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Who most needs a match this round</a:t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777240" y="5330951"/>
            <a:ext cx="5486400" cy="566928"/>
          </a:xfrm>
          <a:prstGeom prst="rect">
            <a:avLst/>
          </a:prstGeom>
          <a:solidFill>
            <a:srgbClr val="241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1033271" y="5486399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B62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1554480" y="546811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Global assignment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3611880" y="5495543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96B8"/>
                </a:solidFill>
                <a:latin typeface="Arial"/>
                <a:ea typeface="Arial"/>
                <a:cs typeface="Arial"/>
                <a:sym typeface="Arial"/>
              </a:rPr>
              <a:t>The whole cohort at once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6812280" y="2697480"/>
            <a:ext cx="461772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7132320" y="2971800"/>
            <a:ext cx="3977639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Why solve globally?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Greedy pairing lets an early match consume the only good option a later mentee needed more. Braid builds a cost matrix over every eligible pair and minimises it globally — the Hungarian algorithm, subject to mentor capacity, a coverage floor and bounded priority weighting.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The engineering is not novel. The objective function is where the contribution sits: maximising a plain sum always permits sacrificing the tail, and the tail is exactly who this is for.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777240" y="61996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B6C60"/>
                </a:solidFill>
                <a:latin typeface="Arial"/>
                <a:ea typeface="Arial"/>
                <a:cs typeface="Arial"/>
                <a:sym typeface="Arial"/>
              </a:rPr>
              <a:t>Braid · Team Quantum Solvers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10317175" y="61996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B6C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733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B627"/>
                </a:solidFill>
                <a:latin typeface="Arial"/>
                <a:ea typeface="Arial"/>
                <a:cs typeface="Arial"/>
                <a:sym typeface="Arial"/>
              </a:rPr>
              <a:t>THE ARGUMENT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777240" y="914400"/>
            <a:ext cx="1005840" cy="41148"/>
          </a:xfrm>
          <a:prstGeom prst="rect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777240" y="1234440"/>
            <a:ext cx="10241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Equity is an input, not a report.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777240" y="237744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296B8"/>
                </a:solidFill>
                <a:latin typeface="Arial"/>
                <a:ea typeface="Arial"/>
                <a:cs typeface="Arial"/>
                <a:sym typeface="Arial"/>
              </a:rPr>
              <a:t>Priority influences the objective function the solver minimises. It is not a chart produced after the fact.</a:t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777240" y="3291840"/>
            <a:ext cx="3200400" cy="2148840"/>
          </a:xfrm>
          <a:prstGeom prst="rect">
            <a:avLst/>
          </a:prstGeom>
          <a:noFill/>
          <a:ln cap="flat" cmpd="sng" w="12700">
            <a:solidFill>
              <a:srgbClr val="6B5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777240" y="3291840"/>
            <a:ext cx="3200400" cy="64008"/>
          </a:xfrm>
          <a:prstGeom prst="rect">
            <a:avLst/>
          </a:prstGeom>
          <a:solidFill>
            <a:srgbClr val="1CBB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1069848" y="361188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Every pair explains itself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069848" y="4315968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E8DFD6"/>
                </a:solidFill>
                <a:latin typeface="Arial"/>
                <a:ea typeface="Arial"/>
                <a:cs typeface="Arial"/>
                <a:sym typeface="Arial"/>
              </a:rPr>
              <a:t>Open any pairing to see what was compared — both sides' answers and the arithmetic behind the score.</a:t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4206240" y="3291840"/>
            <a:ext cx="3200400" cy="2148840"/>
          </a:xfrm>
          <a:prstGeom prst="rect">
            <a:avLst/>
          </a:prstGeom>
          <a:noFill/>
          <a:ln cap="flat" cmpd="sng" w="12700">
            <a:solidFill>
              <a:srgbClr val="6B5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4206240" y="3291840"/>
            <a:ext cx="3200400" cy="64008"/>
          </a:xfrm>
          <a:prstGeom prst="rect">
            <a:avLst/>
          </a:prstGeom>
          <a:solidFill>
            <a:srgbClr val="1CBB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4498848" y="361188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Fairness is scored per run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4498848" y="4315968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E8DFD6"/>
                </a:solidFill>
                <a:latin typeface="Arial"/>
                <a:ea typeface="Arial"/>
                <a:cs typeface="Arial"/>
                <a:sym typeface="Arial"/>
              </a:rPr>
              <a:t>Coordinators review a run with its fairness summary before anything is published.</a:t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7635240" y="3291840"/>
            <a:ext cx="3200400" cy="2148840"/>
          </a:xfrm>
          <a:prstGeom prst="rect">
            <a:avLst/>
          </a:prstGeom>
          <a:noFill/>
          <a:ln cap="flat" cmpd="sng" w="12700">
            <a:solidFill>
              <a:srgbClr val="6B5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7635240" y="3291840"/>
            <a:ext cx="3200400" cy="64008"/>
          </a:xfrm>
          <a:prstGeom prst="rect">
            <a:avLst/>
          </a:prstGeom>
          <a:solidFill>
            <a:srgbClr val="1CBB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7927848" y="361188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Reporting withholds small groups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7927848" y="4315968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E8DFD6"/>
                </a:solidFill>
                <a:latin typeface="Arial"/>
                <a:ea typeface="Arial"/>
                <a:cs typeface="Arial"/>
                <a:sym typeface="Arial"/>
              </a:rPr>
              <a:t>Demographic breakdowns suppress any group of three or fewer rather than rounding, and say how many were withheld.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7B6C60"/>
                </a:solidFill>
                <a:latin typeface="Arial"/>
                <a:ea typeface="Arial"/>
                <a:cs typeface="Arial"/>
                <a:sym typeface="Arial"/>
              </a:rPr>
              <a:t>We are not claiming software fixes gender inequality in STEM — only that scarce mentor hours should be allocated transparently, at scale, with equity as an explicit input.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777240" y="6317064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296B8"/>
                </a:solidFill>
                <a:latin typeface="Arial"/>
                <a:ea typeface="Arial"/>
                <a:cs typeface="Arial"/>
                <a:sym typeface="Arial"/>
              </a:rPr>
              <a:t>Braid · Team Quantum Solvers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10317175" y="61996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296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6246E"/>
                </a:solidFill>
                <a:latin typeface="Arial"/>
                <a:ea typeface="Arial"/>
                <a:cs typeface="Arial"/>
                <a:sym typeface="Arial"/>
              </a:rPr>
              <a:t>WHAT'S BUILT</a:t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777240" y="914400"/>
            <a:ext cx="1005840" cy="41148"/>
          </a:xfrm>
          <a:prstGeom prst="rect">
            <a:avLst/>
          </a:prstGeom>
          <a:solidFill>
            <a:srgbClr val="D624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777240" y="1234440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A working platform</a:t>
            </a:r>
            <a:r>
              <a:rPr b="1" lang="en-US" sz="3400">
                <a:solidFill>
                  <a:srgbClr val="241733"/>
                </a:solidFill>
              </a:rPr>
              <a:t>.</a:t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777240" y="2697480"/>
            <a:ext cx="512064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1051560" y="284378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1051560" y="31546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FastAPI · PostgreSQL · Alembic migrations · 54 Python modules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777240" y="3593592"/>
            <a:ext cx="512064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1051560" y="373989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1051560" y="4050791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Next.js App Router · TypeScript strict · 33 pages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777240" y="4489704"/>
            <a:ext cx="512064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1051560" y="46360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Contract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1051560" y="494690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One OpenAPI file both sides read · types generated, never hand-written</a:t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777240" y="5385816"/>
            <a:ext cx="512064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1051560" y="55321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Auth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1051560" y="584301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Magic-link sign-in, sessions, role resolved per programme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6537960" y="2697480"/>
            <a:ext cx="4892040" cy="3529584"/>
          </a:xfrm>
          <a:prstGeom prst="rect">
            <a:avLst/>
          </a:prstGeom>
          <a:solidFill>
            <a:srgbClr val="F7F1E9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6858000" y="2971800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Run it yourself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6858000" y="3429000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One command brings up the database, API and web app with seeded demo data.</a:t>
            </a:r>
            <a:endParaRPr/>
          </a:p>
        </p:txBody>
      </p:sp>
      <p:sp>
        <p:nvSpPr>
          <p:cNvPr id="224" name="Google Shape;224;p18"/>
          <p:cNvSpPr/>
          <p:nvPr/>
        </p:nvSpPr>
        <p:spPr>
          <a:xfrm>
            <a:off x="6858000" y="4069080"/>
            <a:ext cx="4251960" cy="457200"/>
          </a:xfrm>
          <a:prstGeom prst="rect">
            <a:avLst/>
          </a:prstGeom>
          <a:solidFill>
            <a:srgbClr val="241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7059168" y="4206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CBB9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 compose up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6858000" y="4709160"/>
            <a:ext cx="4251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Seeded with a 22-participant cohort so every screen has something real in it — applications, a matching run, published strands and reports.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777240" y="6382303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B6C60"/>
                </a:solidFill>
                <a:latin typeface="Arial"/>
                <a:ea typeface="Arial"/>
                <a:cs typeface="Arial"/>
                <a:sym typeface="Arial"/>
              </a:rPr>
              <a:t>Braid · Team Quantum Solvers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10317175" y="6330111"/>
            <a:ext cx="1097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B6C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7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6246E"/>
                </a:solidFill>
                <a:latin typeface="Arial"/>
                <a:ea typeface="Arial"/>
                <a:cs typeface="Arial"/>
                <a:sym typeface="Arial"/>
              </a:rPr>
              <a:t>THE TEAM</a:t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777240" y="914400"/>
            <a:ext cx="1005840" cy="41148"/>
          </a:xfrm>
          <a:prstGeom prst="rect">
            <a:avLst/>
          </a:prstGeom>
          <a:solidFill>
            <a:srgbClr val="D624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777240" y="1234440"/>
            <a:ext cx="10241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Four Grow with Google tracks, four layers of the platform.</a:t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777240" y="2651760"/>
            <a:ext cx="1060704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777240" y="2651760"/>
            <a:ext cx="54864" cy="777240"/>
          </a:xfrm>
          <a:prstGeom prst="rect">
            <a:avLst/>
          </a:prstGeom>
          <a:solidFill>
            <a:srgbClr val="D624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1097280" y="279806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Benardette Xetsa Setutsinam Afi Gati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1097280" y="310896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6246E"/>
                </a:solidFill>
                <a:latin typeface="Arial"/>
                <a:ea typeface="Arial"/>
                <a:cs typeface="Arial"/>
                <a:sym typeface="Arial"/>
              </a:rPr>
              <a:t>Project Management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4709159" y="2916936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Planning, requirements, documentation, risk and testing oversight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777240" y="3520439"/>
            <a:ext cx="1060704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777240" y="3520439"/>
            <a:ext cx="54864" cy="777240"/>
          </a:xfrm>
          <a:prstGeom prst="rect">
            <a:avLst/>
          </a:prstGeom>
          <a:solidFill>
            <a:srgbClr val="D624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1097280" y="366674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Eulleria Gitau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1097280" y="3977639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6246E"/>
                </a:solidFill>
                <a:latin typeface="Arial"/>
                <a:ea typeface="Arial"/>
                <a:cs typeface="Arial"/>
                <a:sym typeface="Arial"/>
              </a:rPr>
              <a:t>Data Analytics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4709159" y="3785615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Compatibility factors, scoring model, evaluation metrics</a:t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777240" y="4389120"/>
            <a:ext cx="1060704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777240" y="4389120"/>
            <a:ext cx="54864" cy="777240"/>
          </a:xfrm>
          <a:prstGeom prst="rect">
            <a:avLst/>
          </a:prstGeom>
          <a:solidFill>
            <a:srgbClr val="D624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1097280" y="453542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Jeff Mbita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1097280" y="48463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6246E"/>
                </a:solidFill>
                <a:latin typeface="Arial"/>
                <a:ea typeface="Arial"/>
                <a:cs typeface="Arial"/>
                <a:sym typeface="Arial"/>
              </a:rPr>
              <a:t>Cybersecurity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4709159" y="4654296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Access control, privacy, risk assessment, security testing</a:t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777240" y="5257800"/>
            <a:ext cx="1060704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777240" y="5257800"/>
            <a:ext cx="54864" cy="777240"/>
          </a:xfrm>
          <a:prstGeom prst="rect">
            <a:avLst/>
          </a:prstGeom>
          <a:solidFill>
            <a:srgbClr val="D624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1097280" y="540410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41733"/>
                </a:solidFill>
                <a:latin typeface="Arial"/>
                <a:ea typeface="Arial"/>
                <a:cs typeface="Arial"/>
                <a:sym typeface="Arial"/>
              </a:rPr>
              <a:t>Omogbolaga Daramola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1097280" y="571500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6246E"/>
                </a:solidFill>
                <a:latin typeface="Arial"/>
                <a:ea typeface="Arial"/>
                <a:cs typeface="Arial"/>
                <a:sym typeface="Arial"/>
              </a:rPr>
              <a:t>IT Automation with Python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4709159" y="5522976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74A3F"/>
                </a:solidFill>
                <a:latin typeface="Arial"/>
                <a:ea typeface="Arial"/>
                <a:cs typeface="Arial"/>
                <a:sym typeface="Arial"/>
              </a:rPr>
              <a:t>Full-stack build — backend, frontend, matching engine, integration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7B6C60"/>
                </a:solidFill>
                <a:latin typeface="Arial"/>
                <a:ea typeface="Arial"/>
                <a:cs typeface="Arial"/>
                <a:sym typeface="Arial"/>
              </a:rPr>
              <a:t>Every member completed their track; certificate completion was the entry criterion. Each track maps onto a different layer, which is what made a four-week build of this scope possible.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777240" y="6630214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B6C60"/>
                </a:solidFill>
                <a:latin typeface="Arial"/>
                <a:ea typeface="Arial"/>
                <a:cs typeface="Arial"/>
                <a:sym typeface="Arial"/>
              </a:rPr>
              <a:t>Braid · Team Quantum Solvers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10317175" y="6473639"/>
            <a:ext cx="1097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B6C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733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624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B627"/>
                </a:solidFill>
                <a:latin typeface="Arial"/>
                <a:ea typeface="Arial"/>
                <a:cs typeface="Arial"/>
                <a:sym typeface="Arial"/>
              </a:rPr>
              <a:t>SEE IT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777240" y="914400"/>
            <a:ext cx="1005840" cy="41148"/>
          </a:xfrm>
          <a:prstGeom prst="rect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777240" y="123444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Watch the walkthrough,</a:t>
            </a:r>
            <a:br>
              <a:rPr b="1" lang="en-US" sz="34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solidFill>
                  <a:srgbClr val="FFFCF7"/>
                </a:solidFill>
                <a:latin typeface="Arial"/>
                <a:ea typeface="Arial"/>
                <a:cs typeface="Arial"/>
                <a:sym typeface="Arial"/>
              </a:rPr>
              <a:t>then read the code.</a:t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777240" y="3200400"/>
            <a:ext cx="10607040" cy="868680"/>
          </a:xfrm>
          <a:prstGeom prst="rect">
            <a:avLst/>
          </a:prstGeom>
          <a:noFill/>
          <a:ln cap="flat" cmpd="sng" w="12700">
            <a:solidFill>
              <a:srgbClr val="6B5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1097280" y="33375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7B6C60"/>
                </a:solidFill>
                <a:latin typeface="Arial"/>
                <a:ea typeface="Arial"/>
                <a:cs typeface="Arial"/>
                <a:sym typeface="Arial"/>
              </a:rPr>
              <a:t>Walkthrough video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1097280" y="363931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CBB9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youtu.be/Za1TMwE46hk</a:t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777240" y="4251960"/>
            <a:ext cx="10607040" cy="868680"/>
          </a:xfrm>
          <a:prstGeom prst="rect">
            <a:avLst/>
          </a:prstGeom>
          <a:noFill/>
          <a:ln cap="flat" cmpd="sng" w="12700">
            <a:solidFill>
              <a:srgbClr val="6B5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1097280" y="43891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7B6C60"/>
                </a:solidFill>
                <a:latin typeface="Arial"/>
                <a:ea typeface="Arial"/>
                <a:cs typeface="Arial"/>
                <a:sym typeface="Arial"/>
              </a:rPr>
              <a:t>Code, docs and project artefacts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1097280" y="469087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CBB9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github.com/Mentor-Me-Collective/grow-with-google-showcase/pull/21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777240" y="557784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7B6C60"/>
                </a:solidFill>
                <a:latin typeface="Arial"/>
                <a:ea typeface="Arial"/>
                <a:cs typeface="Arial"/>
                <a:sym typeface="Arial"/>
              </a:rPr>
              <a:t>Concept note · project charter · implementation plan · WBS, RACI, Gantt and a 12-item risk register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296B8"/>
                </a:solidFill>
                <a:latin typeface="Arial"/>
                <a:ea typeface="Arial"/>
                <a:cs typeface="Arial"/>
                <a:sym typeface="Arial"/>
              </a:rPr>
              <a:t>MIT licensed — built to be extended by the next cohort.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777240" y="61996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296B8"/>
                </a:solidFill>
                <a:latin typeface="Arial"/>
                <a:ea typeface="Arial"/>
                <a:cs typeface="Arial"/>
                <a:sym typeface="Arial"/>
              </a:rPr>
              <a:t>Braid · Team Quantum Solvers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10317175" y="61996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296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