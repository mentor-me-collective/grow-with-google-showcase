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Bold" charset="1" panose="00000800000000000000"/>
      <p:regular r:id="rId16"/>
    </p:embeddedFont>
    <p:embeddedFont>
      <p:font typeface="Poppins" charset="1" panose="00000500000000000000"/>
      <p:regular r:id="rId17"/>
    </p:embeddedFont>
    <p:embeddedFont>
      <p:font typeface="Poppins Bold Italics" charset="1" panose="00000800000000000000"/>
      <p:regular r:id="rId18"/>
    </p:embeddedFont>
    <p:embeddedFont>
      <p:font typeface="Arimo Bold Italics" charset="1" panose="020B0704020202090204"/>
      <p:regular r:id="rId19"/>
    </p:embeddedFont>
    <p:embeddedFont>
      <p:font typeface="Poppins Italics" charset="1" panose="00000500000000000000"/>
      <p:regular r:id="rId20"/>
    </p:embeddedFont>
    <p:embeddedFont>
      <p:font typeface="Canva Sans Bold" charset="1" panose="020B0803030501040103"/>
      <p:regular r:id="rId21"/>
    </p:embeddedFont>
    <p:embeddedFont>
      <p:font typeface="Canva Sans Bold Italics" charset="1" panose="020B0803030501040103"/>
      <p:regular r:id="rId22"/>
    </p:embeddedFont>
    <p:embeddedFont>
      <p:font typeface="Arimo Bold" charset="1" panose="020B0704020202020204"/>
      <p:regular r:id="rId23"/>
    </p:embeddedFont>
    <p:embeddedFont>
      <p:font typeface="Arimo Italics" charset="1" panose="020B0604020202090204"/>
      <p:regular r:id="rId24"/>
    </p:embeddedFont>
    <p:embeddedFont>
      <p:font typeface="Arimo" charset="1" panose="020B0604020202020204"/>
      <p:regular r:id="rId25"/>
    </p:embeddedFont>
    <p:embeddedFont>
      <p:font typeface="Canva Sans" charset="1" panose="020B05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sp>
        <p:nvSpPr>
          <p:cNvPr name="TextBox 2" id="2"/>
          <p:cNvSpPr txBox="true"/>
          <p:nvPr/>
        </p:nvSpPr>
        <p:spPr>
          <a:xfrm rot="0">
            <a:off x="5576478" y="750922"/>
            <a:ext cx="8593606" cy="2327276"/>
          </a:xfrm>
          <a:prstGeom prst="rect">
            <a:avLst/>
          </a:prstGeom>
        </p:spPr>
        <p:txBody>
          <a:bodyPr anchor="t" rtlCol="false" tIns="0" lIns="0" bIns="0" rIns="0">
            <a:spAutoFit/>
          </a:bodyPr>
          <a:lstStyle/>
          <a:p>
            <a:pPr algn="ctr">
              <a:lnSpc>
                <a:spcPts val="14600"/>
              </a:lnSpc>
            </a:pPr>
            <a:r>
              <a:rPr lang="en-US" b="true" sz="20000" spc="-1820">
                <a:solidFill>
                  <a:srgbClr val="233F25"/>
                </a:solidFill>
                <a:latin typeface="Poppins Bold"/>
                <a:ea typeface="Poppins Bold"/>
                <a:cs typeface="Poppins Bold"/>
                <a:sym typeface="Poppins Bold"/>
              </a:rPr>
              <a:t>BAKI</a:t>
            </a:r>
          </a:p>
        </p:txBody>
      </p:sp>
      <p:sp>
        <p:nvSpPr>
          <p:cNvPr name="TextBox 3" id="3"/>
          <p:cNvSpPr txBox="true"/>
          <p:nvPr/>
        </p:nvSpPr>
        <p:spPr>
          <a:xfrm rot="0">
            <a:off x="14170084" y="971550"/>
            <a:ext cx="3089216" cy="358775"/>
          </a:xfrm>
          <a:prstGeom prst="rect">
            <a:avLst/>
          </a:prstGeom>
        </p:spPr>
        <p:txBody>
          <a:bodyPr anchor="t" rtlCol="false" tIns="0" lIns="0" bIns="0" rIns="0">
            <a:spAutoFit/>
          </a:bodyPr>
          <a:lstStyle/>
          <a:p>
            <a:pPr algn="r">
              <a:lnSpc>
                <a:spcPts val="2799"/>
              </a:lnSpc>
            </a:pPr>
            <a:r>
              <a:rPr lang="en-US" sz="1999" spc="19">
                <a:solidFill>
                  <a:srgbClr val="594832"/>
                </a:solidFill>
                <a:latin typeface="Poppins"/>
                <a:ea typeface="Poppins"/>
                <a:cs typeface="Poppins"/>
                <a:sym typeface="Poppins"/>
              </a:rPr>
              <a:t>AUGUST 14</a:t>
            </a:r>
            <a:r>
              <a:rPr lang="en-US" sz="1999" spc="19">
                <a:solidFill>
                  <a:srgbClr val="594832"/>
                </a:solidFill>
                <a:latin typeface="Poppins"/>
                <a:ea typeface="Poppins"/>
                <a:cs typeface="Poppins"/>
                <a:sym typeface="Poppins"/>
              </a:rPr>
              <a:t>TH</a:t>
            </a:r>
            <a:r>
              <a:rPr lang="en-US" sz="1999" spc="19">
                <a:solidFill>
                  <a:srgbClr val="594832"/>
                </a:solidFill>
                <a:latin typeface="Poppins"/>
                <a:ea typeface="Poppins"/>
                <a:cs typeface="Poppins"/>
                <a:sym typeface="Poppins"/>
              </a:rPr>
              <a:t>, 2026</a:t>
            </a:r>
          </a:p>
        </p:txBody>
      </p:sp>
      <p:sp>
        <p:nvSpPr>
          <p:cNvPr name="Freeform 4" id="4"/>
          <p:cNvSpPr/>
          <p:nvPr/>
        </p:nvSpPr>
        <p:spPr>
          <a:xfrm flipH="false" flipV="false" rot="0">
            <a:off x="68926" y="0"/>
            <a:ext cx="5507553" cy="5511581"/>
          </a:xfrm>
          <a:custGeom>
            <a:avLst/>
            <a:gdLst/>
            <a:ahLst/>
            <a:cxnLst/>
            <a:rect r="r" b="b" t="t" l="l"/>
            <a:pathLst>
              <a:path h="5511581" w="5507553">
                <a:moveTo>
                  <a:pt x="0" y="0"/>
                </a:moveTo>
                <a:lnTo>
                  <a:pt x="5507552" y="0"/>
                </a:lnTo>
                <a:lnTo>
                  <a:pt x="5507552" y="5511581"/>
                </a:lnTo>
                <a:lnTo>
                  <a:pt x="0" y="5511581"/>
                </a:lnTo>
                <a:lnTo>
                  <a:pt x="0" y="0"/>
                </a:lnTo>
                <a:close/>
              </a:path>
            </a:pathLst>
          </a:custGeom>
          <a:blipFill>
            <a:blip r:embed="rId2"/>
            <a:stretch>
              <a:fillRect l="-6634" t="-5355" r="-2803" b="0"/>
            </a:stretch>
          </a:blipFill>
        </p:spPr>
      </p:sp>
      <p:sp>
        <p:nvSpPr>
          <p:cNvPr name="TextBox 5" id="5"/>
          <p:cNvSpPr txBox="true"/>
          <p:nvPr/>
        </p:nvSpPr>
        <p:spPr>
          <a:xfrm rot="0">
            <a:off x="714549" y="8643302"/>
            <a:ext cx="8429451" cy="1172845"/>
          </a:xfrm>
          <a:prstGeom prst="rect">
            <a:avLst/>
          </a:prstGeom>
        </p:spPr>
        <p:txBody>
          <a:bodyPr anchor="t" rtlCol="false" tIns="0" lIns="0" bIns="0" rIns="0">
            <a:spAutoFit/>
          </a:bodyPr>
          <a:lstStyle/>
          <a:p>
            <a:pPr algn="ctr">
              <a:lnSpc>
                <a:spcPts val="3079"/>
              </a:lnSpc>
            </a:pPr>
            <a:r>
              <a:rPr lang="en-US" b="true" sz="2199" i="true">
                <a:solidFill>
                  <a:srgbClr val="FF914D"/>
                </a:solidFill>
                <a:latin typeface="Poppins Bold Italics"/>
                <a:ea typeface="Poppins Bold Italics"/>
                <a:cs typeface="Poppins Bold Italics"/>
                <a:sym typeface="Poppins Bold Italics"/>
              </a:rPr>
              <a:t>Catalyst Alliance</a:t>
            </a:r>
          </a:p>
          <a:p>
            <a:pPr algn="ctr">
              <a:lnSpc>
                <a:spcPts val="3079"/>
              </a:lnSpc>
            </a:pPr>
            <a:r>
              <a:rPr lang="en-US" b="true" sz="2199" i="true">
                <a:solidFill>
                  <a:srgbClr val="FF914D"/>
                </a:solidFill>
                <a:latin typeface="Poppins Bold Italics"/>
                <a:ea typeface="Poppins Bold Italics"/>
                <a:cs typeface="Poppins Bold Italics"/>
                <a:sym typeface="Poppins Bold Italics"/>
              </a:rPr>
              <a:t>SDG 2 — Zero Hunger</a:t>
            </a:r>
          </a:p>
          <a:p>
            <a:pPr algn="ctr">
              <a:lnSpc>
                <a:spcPts val="3079"/>
              </a:lnSpc>
              <a:spcBef>
                <a:spcPct val="0"/>
              </a:spcBef>
            </a:pPr>
          </a:p>
        </p:txBody>
      </p:sp>
      <p:sp>
        <p:nvSpPr>
          <p:cNvPr name="TextBox 6" id="6"/>
          <p:cNvSpPr txBox="true"/>
          <p:nvPr/>
        </p:nvSpPr>
        <p:spPr>
          <a:xfrm rot="0">
            <a:off x="5740634" y="2992474"/>
            <a:ext cx="8429451" cy="1076325"/>
          </a:xfrm>
          <a:prstGeom prst="rect">
            <a:avLst/>
          </a:prstGeom>
        </p:spPr>
        <p:txBody>
          <a:bodyPr anchor="t" rtlCol="false" tIns="0" lIns="0" bIns="0" rIns="0">
            <a:spAutoFit/>
          </a:bodyPr>
          <a:lstStyle/>
          <a:p>
            <a:pPr algn="ctr">
              <a:lnSpc>
                <a:spcPts val="4200"/>
              </a:lnSpc>
            </a:pPr>
            <a:r>
              <a:rPr lang="en-US" b="true" sz="3000" i="true">
                <a:solidFill>
                  <a:srgbClr val="594832"/>
                </a:solidFill>
                <a:latin typeface="Poppins Bold Italics"/>
                <a:ea typeface="Poppins Bold Italics"/>
                <a:cs typeface="Poppins Bold Italics"/>
                <a:sym typeface="Poppins Bold Italics"/>
              </a:rPr>
              <a:t>Surplus food, matched before it spoils.</a:t>
            </a:r>
          </a:p>
          <a:p>
            <a:pPr algn="ctr">
              <a:lnSpc>
                <a:spcPts val="4200"/>
              </a:lnSpc>
              <a:spcBef>
                <a:spcPct val="0"/>
              </a:spcBef>
            </a:pPr>
          </a:p>
        </p:txBody>
      </p:sp>
      <p:sp>
        <p:nvSpPr>
          <p:cNvPr name="Freeform 7" id="7"/>
          <p:cNvSpPr/>
          <p:nvPr/>
        </p:nvSpPr>
        <p:spPr>
          <a:xfrm flipH="false" flipV="false" rot="0">
            <a:off x="13989679" y="4068799"/>
            <a:ext cx="4298321" cy="6102515"/>
          </a:xfrm>
          <a:custGeom>
            <a:avLst/>
            <a:gdLst/>
            <a:ahLst/>
            <a:cxnLst/>
            <a:rect r="r" b="b" t="t" l="l"/>
            <a:pathLst>
              <a:path h="6102515" w="4298321">
                <a:moveTo>
                  <a:pt x="0" y="0"/>
                </a:moveTo>
                <a:lnTo>
                  <a:pt x="4298321" y="0"/>
                </a:lnTo>
                <a:lnTo>
                  <a:pt x="4298321" y="6102515"/>
                </a:lnTo>
                <a:lnTo>
                  <a:pt x="0" y="6102515"/>
                </a:lnTo>
                <a:lnTo>
                  <a:pt x="0" y="0"/>
                </a:lnTo>
                <a:close/>
              </a:path>
            </a:pathLst>
          </a:custGeom>
          <a:blipFill>
            <a:blip r:embed="rId3"/>
            <a:stretch>
              <a:fillRect l="-2752" t="0" r="-5720" b="-34928"/>
            </a:stretch>
          </a:blipFill>
        </p:spPr>
      </p:sp>
      <p:sp>
        <p:nvSpPr>
          <p:cNvPr name="TextBox 8" id="8"/>
          <p:cNvSpPr txBox="true"/>
          <p:nvPr/>
        </p:nvSpPr>
        <p:spPr>
          <a:xfrm rot="0">
            <a:off x="795179" y="6396355"/>
            <a:ext cx="9562598" cy="1746250"/>
          </a:xfrm>
          <a:prstGeom prst="rect">
            <a:avLst/>
          </a:prstGeom>
        </p:spPr>
        <p:txBody>
          <a:bodyPr anchor="t" rtlCol="false" tIns="0" lIns="0" bIns="0" rIns="0">
            <a:spAutoFit/>
          </a:bodyPr>
          <a:lstStyle/>
          <a:p>
            <a:pPr algn="l">
              <a:lnSpc>
                <a:spcPts val="3499"/>
              </a:lnSpc>
            </a:pPr>
            <a:r>
              <a:rPr lang="en-US" sz="2499" i="true" b="true">
                <a:solidFill>
                  <a:srgbClr val="000000"/>
                </a:solidFill>
                <a:latin typeface="Arimo Bold Italics"/>
                <a:ea typeface="Arimo Bold Italics"/>
                <a:cs typeface="Arimo Bold Italics"/>
                <a:sym typeface="Arimo Bold Italics"/>
              </a:rPr>
              <a:t>Every day, perfectly usable food can become waste simply because there’s no fast way to connect it with someone who needs it. Baki was created to address that gap.</a:t>
            </a:r>
          </a:p>
          <a:p>
            <a:pPr algn="l">
              <a:lnSpc>
                <a:spcPts val="349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grpSp>
        <p:nvGrpSpPr>
          <p:cNvPr name="Group 2" id="2"/>
          <p:cNvGrpSpPr/>
          <p:nvPr/>
        </p:nvGrpSpPr>
        <p:grpSpPr>
          <a:xfrm rot="0">
            <a:off x="1028700" y="1954960"/>
            <a:ext cx="5475915" cy="2243818"/>
            <a:chOff x="0" y="0"/>
            <a:chExt cx="1296190" cy="531128"/>
          </a:xfrm>
        </p:grpSpPr>
        <p:sp>
          <p:nvSpPr>
            <p:cNvPr name="Freeform 3" id="3"/>
            <p:cNvSpPr/>
            <p:nvPr/>
          </p:nvSpPr>
          <p:spPr>
            <a:xfrm flipH="false" flipV="false" rot="0">
              <a:off x="0" y="0"/>
              <a:ext cx="1296190" cy="531128"/>
            </a:xfrm>
            <a:custGeom>
              <a:avLst/>
              <a:gdLst/>
              <a:ahLst/>
              <a:cxnLst/>
              <a:rect r="r" b="b" t="t" l="l"/>
              <a:pathLst>
                <a:path h="531128" w="1296190">
                  <a:moveTo>
                    <a:pt x="39587" y="0"/>
                  </a:moveTo>
                  <a:lnTo>
                    <a:pt x="1256603" y="0"/>
                  </a:lnTo>
                  <a:cubicBezTo>
                    <a:pt x="1278466" y="0"/>
                    <a:pt x="1296190" y="17724"/>
                    <a:pt x="1296190" y="39587"/>
                  </a:cubicBezTo>
                  <a:lnTo>
                    <a:pt x="1296190" y="491542"/>
                  </a:lnTo>
                  <a:cubicBezTo>
                    <a:pt x="1296190" y="502041"/>
                    <a:pt x="1292019" y="512110"/>
                    <a:pt x="1284595" y="519534"/>
                  </a:cubicBezTo>
                  <a:cubicBezTo>
                    <a:pt x="1277171" y="526958"/>
                    <a:pt x="1267102" y="531128"/>
                    <a:pt x="1256603" y="531128"/>
                  </a:cubicBezTo>
                  <a:lnTo>
                    <a:pt x="39587" y="531128"/>
                  </a:lnTo>
                  <a:cubicBezTo>
                    <a:pt x="17724" y="531128"/>
                    <a:pt x="0" y="513405"/>
                    <a:pt x="0" y="491542"/>
                  </a:cubicBezTo>
                  <a:lnTo>
                    <a:pt x="0" y="39587"/>
                  </a:lnTo>
                  <a:cubicBezTo>
                    <a:pt x="0" y="29088"/>
                    <a:pt x="4171" y="19019"/>
                    <a:pt x="11595" y="11595"/>
                  </a:cubicBezTo>
                  <a:cubicBezTo>
                    <a:pt x="19019" y="4171"/>
                    <a:pt x="29088" y="0"/>
                    <a:pt x="39587" y="0"/>
                  </a:cubicBezTo>
                  <a:close/>
                </a:path>
              </a:pathLst>
            </a:custGeom>
            <a:ln w="19050" cap="rnd">
              <a:solidFill>
                <a:srgbClr val="FF914D"/>
              </a:solidFill>
              <a:prstDash val="solid"/>
              <a:round/>
            </a:ln>
          </p:spPr>
        </p:sp>
        <p:sp>
          <p:nvSpPr>
            <p:cNvPr name="TextBox 4" id="4"/>
            <p:cNvSpPr txBox="true"/>
            <p:nvPr/>
          </p:nvSpPr>
          <p:spPr>
            <a:xfrm>
              <a:off x="0" y="-38100"/>
              <a:ext cx="1296190" cy="56922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36969" y="4484721"/>
            <a:ext cx="5475915" cy="2243818"/>
            <a:chOff x="0" y="0"/>
            <a:chExt cx="1296190" cy="531128"/>
          </a:xfrm>
        </p:grpSpPr>
        <p:sp>
          <p:nvSpPr>
            <p:cNvPr name="Freeform 6" id="6"/>
            <p:cNvSpPr/>
            <p:nvPr/>
          </p:nvSpPr>
          <p:spPr>
            <a:xfrm flipH="false" flipV="false" rot="0">
              <a:off x="0" y="0"/>
              <a:ext cx="1296190" cy="531128"/>
            </a:xfrm>
            <a:custGeom>
              <a:avLst/>
              <a:gdLst/>
              <a:ahLst/>
              <a:cxnLst/>
              <a:rect r="r" b="b" t="t" l="l"/>
              <a:pathLst>
                <a:path h="531128" w="1296190">
                  <a:moveTo>
                    <a:pt x="39587" y="0"/>
                  </a:moveTo>
                  <a:lnTo>
                    <a:pt x="1256603" y="0"/>
                  </a:lnTo>
                  <a:cubicBezTo>
                    <a:pt x="1278466" y="0"/>
                    <a:pt x="1296190" y="17724"/>
                    <a:pt x="1296190" y="39587"/>
                  </a:cubicBezTo>
                  <a:lnTo>
                    <a:pt x="1296190" y="491542"/>
                  </a:lnTo>
                  <a:cubicBezTo>
                    <a:pt x="1296190" y="502041"/>
                    <a:pt x="1292019" y="512110"/>
                    <a:pt x="1284595" y="519534"/>
                  </a:cubicBezTo>
                  <a:cubicBezTo>
                    <a:pt x="1277171" y="526958"/>
                    <a:pt x="1267102" y="531128"/>
                    <a:pt x="1256603" y="531128"/>
                  </a:cubicBezTo>
                  <a:lnTo>
                    <a:pt x="39587" y="531128"/>
                  </a:lnTo>
                  <a:cubicBezTo>
                    <a:pt x="17724" y="531128"/>
                    <a:pt x="0" y="513405"/>
                    <a:pt x="0" y="491542"/>
                  </a:cubicBezTo>
                  <a:lnTo>
                    <a:pt x="0" y="39587"/>
                  </a:lnTo>
                  <a:cubicBezTo>
                    <a:pt x="0" y="29088"/>
                    <a:pt x="4171" y="19019"/>
                    <a:pt x="11595" y="11595"/>
                  </a:cubicBezTo>
                  <a:cubicBezTo>
                    <a:pt x="19019" y="4171"/>
                    <a:pt x="29088" y="0"/>
                    <a:pt x="39587" y="0"/>
                  </a:cubicBezTo>
                  <a:close/>
                </a:path>
              </a:pathLst>
            </a:custGeom>
            <a:ln w="19050" cap="rnd">
              <a:solidFill>
                <a:srgbClr val="FF914D"/>
              </a:solidFill>
              <a:prstDash val="solid"/>
              <a:round/>
            </a:ln>
          </p:spPr>
        </p:sp>
        <p:sp>
          <p:nvSpPr>
            <p:cNvPr name="TextBox 7" id="7"/>
            <p:cNvSpPr txBox="true"/>
            <p:nvPr/>
          </p:nvSpPr>
          <p:spPr>
            <a:xfrm>
              <a:off x="0" y="-38100"/>
              <a:ext cx="1296190" cy="56922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7014482"/>
            <a:ext cx="5475915" cy="2243818"/>
            <a:chOff x="0" y="0"/>
            <a:chExt cx="1296190" cy="531128"/>
          </a:xfrm>
        </p:grpSpPr>
        <p:sp>
          <p:nvSpPr>
            <p:cNvPr name="Freeform 9" id="9"/>
            <p:cNvSpPr/>
            <p:nvPr/>
          </p:nvSpPr>
          <p:spPr>
            <a:xfrm flipH="false" flipV="false" rot="0">
              <a:off x="0" y="0"/>
              <a:ext cx="1296190" cy="531128"/>
            </a:xfrm>
            <a:custGeom>
              <a:avLst/>
              <a:gdLst/>
              <a:ahLst/>
              <a:cxnLst/>
              <a:rect r="r" b="b" t="t" l="l"/>
              <a:pathLst>
                <a:path h="531128" w="1296190">
                  <a:moveTo>
                    <a:pt x="39587" y="0"/>
                  </a:moveTo>
                  <a:lnTo>
                    <a:pt x="1256603" y="0"/>
                  </a:lnTo>
                  <a:cubicBezTo>
                    <a:pt x="1278466" y="0"/>
                    <a:pt x="1296190" y="17724"/>
                    <a:pt x="1296190" y="39587"/>
                  </a:cubicBezTo>
                  <a:lnTo>
                    <a:pt x="1296190" y="491542"/>
                  </a:lnTo>
                  <a:cubicBezTo>
                    <a:pt x="1296190" y="502041"/>
                    <a:pt x="1292019" y="512110"/>
                    <a:pt x="1284595" y="519534"/>
                  </a:cubicBezTo>
                  <a:cubicBezTo>
                    <a:pt x="1277171" y="526958"/>
                    <a:pt x="1267102" y="531128"/>
                    <a:pt x="1256603" y="531128"/>
                  </a:cubicBezTo>
                  <a:lnTo>
                    <a:pt x="39587" y="531128"/>
                  </a:lnTo>
                  <a:cubicBezTo>
                    <a:pt x="17724" y="531128"/>
                    <a:pt x="0" y="513405"/>
                    <a:pt x="0" y="491542"/>
                  </a:cubicBezTo>
                  <a:lnTo>
                    <a:pt x="0" y="39587"/>
                  </a:lnTo>
                  <a:cubicBezTo>
                    <a:pt x="0" y="29088"/>
                    <a:pt x="4171" y="19019"/>
                    <a:pt x="11595" y="11595"/>
                  </a:cubicBezTo>
                  <a:cubicBezTo>
                    <a:pt x="19019" y="4171"/>
                    <a:pt x="29088" y="0"/>
                    <a:pt x="39587" y="0"/>
                  </a:cubicBezTo>
                  <a:close/>
                </a:path>
              </a:pathLst>
            </a:custGeom>
            <a:ln w="19050" cap="rnd">
              <a:solidFill>
                <a:srgbClr val="FF914D"/>
              </a:solidFill>
              <a:prstDash val="solid"/>
              <a:round/>
            </a:ln>
          </p:spPr>
        </p:sp>
        <p:sp>
          <p:nvSpPr>
            <p:cNvPr name="TextBox 10" id="10"/>
            <p:cNvSpPr txBox="true"/>
            <p:nvPr/>
          </p:nvSpPr>
          <p:spPr>
            <a:xfrm>
              <a:off x="0" y="-38100"/>
              <a:ext cx="1296190" cy="56922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3734034" y="4703416"/>
            <a:ext cx="4553966" cy="5176851"/>
          </a:xfrm>
          <a:custGeom>
            <a:avLst/>
            <a:gdLst/>
            <a:ahLst/>
            <a:cxnLst/>
            <a:rect r="r" b="b" t="t" l="l"/>
            <a:pathLst>
              <a:path h="5176851" w="4553966">
                <a:moveTo>
                  <a:pt x="0" y="0"/>
                </a:moveTo>
                <a:lnTo>
                  <a:pt x="4553966" y="0"/>
                </a:lnTo>
                <a:lnTo>
                  <a:pt x="4553966" y="5176850"/>
                </a:lnTo>
                <a:lnTo>
                  <a:pt x="0" y="5176850"/>
                </a:lnTo>
                <a:lnTo>
                  <a:pt x="0" y="0"/>
                </a:lnTo>
                <a:close/>
              </a:path>
            </a:pathLst>
          </a:custGeom>
          <a:blipFill>
            <a:blip r:embed="rId2"/>
            <a:stretch>
              <a:fillRect l="-1953" t="0" r="-1953" b="-21873"/>
            </a:stretch>
          </a:blipFill>
        </p:spPr>
      </p:sp>
      <p:sp>
        <p:nvSpPr>
          <p:cNvPr name="TextBox 12" id="12"/>
          <p:cNvSpPr txBox="true"/>
          <p:nvPr/>
        </p:nvSpPr>
        <p:spPr>
          <a:xfrm rot="0">
            <a:off x="1443863" y="2165644"/>
            <a:ext cx="4645589" cy="2193925"/>
          </a:xfrm>
          <a:prstGeom prst="rect">
            <a:avLst/>
          </a:prstGeom>
        </p:spPr>
        <p:txBody>
          <a:bodyPr anchor="t" rtlCol="false" tIns="0" lIns="0" bIns="0" rIns="0">
            <a:spAutoFit/>
          </a:bodyPr>
          <a:lstStyle/>
          <a:p>
            <a:pPr algn="l">
              <a:lnSpc>
                <a:spcPts val="3499"/>
              </a:lnSpc>
            </a:pPr>
            <a:r>
              <a:rPr lang="en-US" sz="2499" i="true">
                <a:solidFill>
                  <a:srgbClr val="233F25"/>
                </a:solidFill>
                <a:latin typeface="Poppins Italics"/>
                <a:ea typeface="Poppins Italics"/>
                <a:cs typeface="Poppins Italics"/>
                <a:sym typeface="Poppins Italics"/>
              </a:rPr>
              <a:t>🏪 SURPLUS</a:t>
            </a:r>
          </a:p>
          <a:p>
            <a:pPr algn="l">
              <a:lnSpc>
                <a:spcPts val="3499"/>
              </a:lnSpc>
            </a:pPr>
          </a:p>
          <a:p>
            <a:pPr algn="l">
              <a:lnSpc>
                <a:spcPts val="3499"/>
              </a:lnSpc>
            </a:pPr>
            <a:r>
              <a:rPr lang="en-US" sz="2499" i="true">
                <a:solidFill>
                  <a:srgbClr val="233F25"/>
                </a:solidFill>
                <a:latin typeface="Poppins Italics"/>
                <a:ea typeface="Poppins Italics"/>
                <a:cs typeface="Poppins Italics"/>
                <a:sym typeface="Poppins Italics"/>
              </a:rPr>
              <a:t>Retailers have food they can no longer sell.</a:t>
            </a:r>
          </a:p>
          <a:p>
            <a:pPr algn="l">
              <a:lnSpc>
                <a:spcPts val="3499"/>
              </a:lnSpc>
              <a:spcBef>
                <a:spcPct val="0"/>
              </a:spcBef>
            </a:pPr>
          </a:p>
        </p:txBody>
      </p:sp>
      <p:sp>
        <p:nvSpPr>
          <p:cNvPr name="TextBox 13" id="13"/>
          <p:cNvSpPr txBox="true"/>
          <p:nvPr/>
        </p:nvSpPr>
        <p:spPr>
          <a:xfrm rot="0">
            <a:off x="1443863" y="4785226"/>
            <a:ext cx="4901008" cy="2193925"/>
          </a:xfrm>
          <a:prstGeom prst="rect">
            <a:avLst/>
          </a:prstGeom>
        </p:spPr>
        <p:txBody>
          <a:bodyPr anchor="t" rtlCol="false" tIns="0" lIns="0" bIns="0" rIns="0">
            <a:spAutoFit/>
          </a:bodyPr>
          <a:lstStyle/>
          <a:p>
            <a:pPr algn="l">
              <a:lnSpc>
                <a:spcPts val="3499"/>
              </a:lnSpc>
            </a:pPr>
            <a:r>
              <a:rPr lang="en-US" sz="2499" i="true">
                <a:solidFill>
                  <a:srgbClr val="233F25"/>
                </a:solidFill>
                <a:latin typeface="Poppins Italics"/>
                <a:ea typeface="Poppins Italics"/>
                <a:cs typeface="Poppins Italics"/>
                <a:sym typeface="Poppins Italics"/>
              </a:rPr>
              <a:t>🔗 DISCONNECTION</a:t>
            </a:r>
          </a:p>
          <a:p>
            <a:pPr algn="l">
              <a:lnSpc>
                <a:spcPts val="3499"/>
              </a:lnSpc>
            </a:pPr>
          </a:p>
          <a:p>
            <a:pPr algn="l">
              <a:lnSpc>
                <a:spcPts val="3499"/>
              </a:lnSpc>
            </a:pPr>
            <a:r>
              <a:rPr lang="en-US" sz="2499" i="true">
                <a:solidFill>
                  <a:srgbClr val="233F25"/>
                </a:solidFill>
                <a:latin typeface="Poppins Italics"/>
                <a:ea typeface="Poppins Italics"/>
                <a:cs typeface="Poppins Italics"/>
                <a:sym typeface="Poppins Italics"/>
              </a:rPr>
              <a:t>Potential recipients may not know the food is available.</a:t>
            </a:r>
          </a:p>
          <a:p>
            <a:pPr algn="l">
              <a:lnSpc>
                <a:spcPts val="3499"/>
              </a:lnSpc>
              <a:spcBef>
                <a:spcPct val="0"/>
              </a:spcBef>
            </a:pPr>
          </a:p>
        </p:txBody>
      </p:sp>
      <p:sp>
        <p:nvSpPr>
          <p:cNvPr name="TextBox 14" id="14"/>
          <p:cNvSpPr txBox="true"/>
          <p:nvPr/>
        </p:nvSpPr>
        <p:spPr>
          <a:xfrm rot="0">
            <a:off x="1359857" y="7225166"/>
            <a:ext cx="5069021" cy="2193925"/>
          </a:xfrm>
          <a:prstGeom prst="rect">
            <a:avLst/>
          </a:prstGeom>
        </p:spPr>
        <p:txBody>
          <a:bodyPr anchor="t" rtlCol="false" tIns="0" lIns="0" bIns="0" rIns="0">
            <a:spAutoFit/>
          </a:bodyPr>
          <a:lstStyle/>
          <a:p>
            <a:pPr algn="l">
              <a:lnSpc>
                <a:spcPts val="3499"/>
              </a:lnSpc>
            </a:pPr>
            <a:r>
              <a:rPr lang="en-US" sz="2499" i="true">
                <a:solidFill>
                  <a:srgbClr val="233F25"/>
                </a:solidFill>
                <a:latin typeface="Poppins Italics"/>
                <a:ea typeface="Poppins Italics"/>
                <a:cs typeface="Poppins Italics"/>
                <a:sym typeface="Poppins Italics"/>
              </a:rPr>
              <a:t>⏱️ TIME</a:t>
            </a:r>
          </a:p>
          <a:p>
            <a:pPr algn="l">
              <a:lnSpc>
                <a:spcPts val="3499"/>
              </a:lnSpc>
            </a:pPr>
          </a:p>
          <a:p>
            <a:pPr algn="l">
              <a:lnSpc>
                <a:spcPts val="3499"/>
              </a:lnSpc>
            </a:pPr>
            <a:r>
              <a:rPr lang="en-US" sz="2499" i="true">
                <a:solidFill>
                  <a:srgbClr val="233F25"/>
                </a:solidFill>
                <a:latin typeface="Poppins Italics"/>
                <a:ea typeface="Poppins Italics"/>
                <a:cs typeface="Poppins Italics"/>
                <a:sym typeface="Poppins Italics"/>
              </a:rPr>
              <a:t>Perishable food has a limited window for redistribution.</a:t>
            </a:r>
          </a:p>
          <a:p>
            <a:pPr algn="l">
              <a:lnSpc>
                <a:spcPts val="3499"/>
              </a:lnSpc>
              <a:spcBef>
                <a:spcPct val="0"/>
              </a:spcBef>
            </a:pPr>
          </a:p>
        </p:txBody>
      </p:sp>
      <p:sp>
        <p:nvSpPr>
          <p:cNvPr name="TextBox 15" id="15"/>
          <p:cNvSpPr txBox="true"/>
          <p:nvPr/>
        </p:nvSpPr>
        <p:spPr>
          <a:xfrm rot="0">
            <a:off x="6829894" y="1095375"/>
            <a:ext cx="6904140" cy="3815715"/>
          </a:xfrm>
          <a:prstGeom prst="rect">
            <a:avLst/>
          </a:prstGeom>
        </p:spPr>
        <p:txBody>
          <a:bodyPr anchor="t" rtlCol="false" tIns="0" lIns="0" bIns="0" rIns="0">
            <a:spAutoFit/>
          </a:bodyPr>
          <a:lstStyle/>
          <a:p>
            <a:pPr algn="l">
              <a:lnSpc>
                <a:spcPts val="5880"/>
              </a:lnSpc>
            </a:pPr>
            <a:r>
              <a:rPr lang="en-US" sz="6000" spc="-294" b="true">
                <a:solidFill>
                  <a:srgbClr val="FF914D"/>
                </a:solidFill>
                <a:latin typeface="Poppins Bold"/>
                <a:ea typeface="Poppins Bold"/>
                <a:cs typeface="Poppins Bold"/>
                <a:sym typeface="Poppins Bold"/>
              </a:rPr>
              <a:t>GOOD FOOD IS BEING WASTED WHILE PEOPLE STILL NEED FOOD.</a:t>
            </a:r>
          </a:p>
          <a:p>
            <a:pPr algn="l">
              <a:lnSpc>
                <a:spcPts val="5880"/>
              </a:lnSpc>
            </a:pPr>
          </a:p>
        </p:txBody>
      </p:sp>
      <p:sp>
        <p:nvSpPr>
          <p:cNvPr name="TextBox 16" id="16"/>
          <p:cNvSpPr txBox="true"/>
          <p:nvPr/>
        </p:nvSpPr>
        <p:spPr>
          <a:xfrm rot="0">
            <a:off x="6829894" y="4753476"/>
            <a:ext cx="5826810" cy="4384675"/>
          </a:xfrm>
          <a:prstGeom prst="rect">
            <a:avLst/>
          </a:prstGeom>
        </p:spPr>
        <p:txBody>
          <a:bodyPr anchor="t" rtlCol="false" tIns="0" lIns="0" bIns="0" rIns="0">
            <a:spAutoFit/>
          </a:bodyPr>
          <a:lstStyle/>
          <a:p>
            <a:pPr algn="l">
              <a:lnSpc>
                <a:spcPts val="3499"/>
              </a:lnSpc>
            </a:pPr>
            <a:r>
              <a:rPr lang="en-US" sz="2499" i="true" b="true">
                <a:solidFill>
                  <a:srgbClr val="FF914D"/>
                </a:solidFill>
                <a:latin typeface="Poppins Bold Italics"/>
                <a:ea typeface="Poppins Bold Italics"/>
                <a:cs typeface="Poppins Bold Italics"/>
                <a:sym typeface="Poppins Bold Italics"/>
              </a:rPr>
              <a:t>The problem we identified isn’t simply food waste. It’s a coordination problem. Vendors may have surplus food, while NGOs, food banks and communities nearby may need it, but there isn’t always an efficient way to connect the two before that food spoils.</a:t>
            </a:r>
          </a:p>
          <a:p>
            <a:pPr algn="l">
              <a:lnSpc>
                <a:spcPts val="3499"/>
              </a:lnSpc>
              <a:spcBef>
                <a:spcPct val="0"/>
              </a:spcBef>
            </a:pPr>
          </a:p>
        </p:txBody>
      </p:sp>
      <p:sp>
        <p:nvSpPr>
          <p:cNvPr name="Freeform 17" id="17"/>
          <p:cNvSpPr/>
          <p:nvPr/>
        </p:nvSpPr>
        <p:spPr>
          <a:xfrm flipH="false" flipV="false" rot="0">
            <a:off x="13638841" y="-8693"/>
            <a:ext cx="4649159" cy="3927307"/>
          </a:xfrm>
          <a:custGeom>
            <a:avLst/>
            <a:gdLst/>
            <a:ahLst/>
            <a:cxnLst/>
            <a:rect r="r" b="b" t="t" l="l"/>
            <a:pathLst>
              <a:path h="3927307" w="4649159">
                <a:moveTo>
                  <a:pt x="0" y="0"/>
                </a:moveTo>
                <a:lnTo>
                  <a:pt x="4649159" y="0"/>
                </a:lnTo>
                <a:lnTo>
                  <a:pt x="4649159" y="3927307"/>
                </a:lnTo>
                <a:lnTo>
                  <a:pt x="0" y="3927307"/>
                </a:lnTo>
                <a:lnTo>
                  <a:pt x="0" y="0"/>
                </a:lnTo>
                <a:close/>
              </a:path>
            </a:pathLst>
          </a:custGeom>
          <a:blipFill>
            <a:blip r:embed="rId3"/>
            <a:stretch>
              <a:fillRect l="0" t="-4750" r="0" b="-4750"/>
            </a:stretch>
          </a:blipFill>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F8F4EC"/>
        </a:solidFill>
      </p:bgPr>
    </p:bg>
    <p:spTree>
      <p:nvGrpSpPr>
        <p:cNvPr id="1" name=""/>
        <p:cNvGrpSpPr/>
        <p:nvPr/>
      </p:nvGrpSpPr>
      <p:grpSpPr>
        <a:xfrm>
          <a:off x="0" y="0"/>
          <a:ext cx="0" cy="0"/>
          <a:chOff x="0" y="0"/>
          <a:chExt cx="0" cy="0"/>
        </a:xfrm>
      </p:grpSpPr>
      <p:grpSp>
        <p:nvGrpSpPr>
          <p:cNvPr name="Group 2" id="2"/>
          <p:cNvGrpSpPr/>
          <p:nvPr/>
        </p:nvGrpSpPr>
        <p:grpSpPr>
          <a:xfrm rot="0">
            <a:off x="524798" y="6291523"/>
            <a:ext cx="5380370" cy="2309552"/>
            <a:chOff x="0" y="0"/>
            <a:chExt cx="1273574" cy="546688"/>
          </a:xfrm>
        </p:grpSpPr>
        <p:sp>
          <p:nvSpPr>
            <p:cNvPr name="Freeform 3" id="3"/>
            <p:cNvSpPr/>
            <p:nvPr/>
          </p:nvSpPr>
          <p:spPr>
            <a:xfrm flipH="false" flipV="false" rot="0">
              <a:off x="0" y="0"/>
              <a:ext cx="1273574" cy="546688"/>
            </a:xfrm>
            <a:custGeom>
              <a:avLst/>
              <a:gdLst/>
              <a:ahLst/>
              <a:cxnLst/>
              <a:rect r="r" b="b" t="t" l="l"/>
              <a:pathLst>
                <a:path h="546688" w="1273574">
                  <a:moveTo>
                    <a:pt x="40290" y="0"/>
                  </a:moveTo>
                  <a:lnTo>
                    <a:pt x="1233284" y="0"/>
                  </a:lnTo>
                  <a:cubicBezTo>
                    <a:pt x="1243970" y="0"/>
                    <a:pt x="1254217" y="4245"/>
                    <a:pt x="1261773" y="11801"/>
                  </a:cubicBezTo>
                  <a:cubicBezTo>
                    <a:pt x="1269329" y="19356"/>
                    <a:pt x="1273574" y="29604"/>
                    <a:pt x="1273574" y="40290"/>
                  </a:cubicBezTo>
                  <a:lnTo>
                    <a:pt x="1273574" y="506398"/>
                  </a:lnTo>
                  <a:cubicBezTo>
                    <a:pt x="1273574" y="528650"/>
                    <a:pt x="1255535" y="546688"/>
                    <a:pt x="1233284" y="546688"/>
                  </a:cubicBezTo>
                  <a:lnTo>
                    <a:pt x="40290" y="546688"/>
                  </a:lnTo>
                  <a:cubicBezTo>
                    <a:pt x="29604" y="546688"/>
                    <a:pt x="19356" y="542443"/>
                    <a:pt x="11801" y="534888"/>
                  </a:cubicBezTo>
                  <a:cubicBezTo>
                    <a:pt x="4245" y="527332"/>
                    <a:pt x="0" y="517084"/>
                    <a:pt x="0" y="506398"/>
                  </a:cubicBezTo>
                  <a:lnTo>
                    <a:pt x="0" y="40290"/>
                  </a:lnTo>
                  <a:cubicBezTo>
                    <a:pt x="0" y="29604"/>
                    <a:pt x="4245" y="19356"/>
                    <a:pt x="11801" y="11801"/>
                  </a:cubicBezTo>
                  <a:cubicBezTo>
                    <a:pt x="19356" y="4245"/>
                    <a:pt x="29604" y="0"/>
                    <a:pt x="40290" y="0"/>
                  </a:cubicBezTo>
                  <a:close/>
                </a:path>
              </a:pathLst>
            </a:custGeom>
            <a:ln w="19050" cap="rnd">
              <a:solidFill>
                <a:srgbClr val="FF914D"/>
              </a:solidFill>
              <a:prstDash val="solid"/>
              <a:round/>
            </a:ln>
          </p:spPr>
        </p:sp>
        <p:sp>
          <p:nvSpPr>
            <p:cNvPr name="TextBox 4" id="4"/>
            <p:cNvSpPr txBox="true"/>
            <p:nvPr/>
          </p:nvSpPr>
          <p:spPr>
            <a:xfrm>
              <a:off x="0" y="-57150"/>
              <a:ext cx="1273574" cy="603838"/>
            </a:xfrm>
            <a:prstGeom prst="rect">
              <a:avLst/>
            </a:prstGeom>
          </p:spPr>
          <p:txBody>
            <a:bodyPr anchor="ctr" rtlCol="false" tIns="50800" lIns="50800" bIns="50800" rIns="50800"/>
            <a:lstStyle/>
            <a:p>
              <a:pPr algn="ctr">
                <a:lnSpc>
                  <a:spcPts val="4200"/>
                </a:lnSpc>
              </a:pPr>
              <a:r>
                <a:rPr lang="en-US" sz="3000" b="true">
                  <a:solidFill>
                    <a:srgbClr val="FF914D"/>
                  </a:solidFill>
                  <a:latin typeface="Canva Sans Bold"/>
                  <a:ea typeface="Canva Sans Bold"/>
                  <a:cs typeface="Canva Sans Bold"/>
                  <a:sym typeface="Canva Sans Bold"/>
                </a:rPr>
                <a:t>892.7M</a:t>
              </a:r>
            </a:p>
            <a:p>
              <a:pPr algn="ctr">
                <a:lnSpc>
                  <a:spcPts val="4200"/>
                </a:lnSpc>
              </a:pPr>
              <a:r>
                <a:rPr lang="en-US" b="true" sz="3000" i="true">
                  <a:solidFill>
                    <a:srgbClr val="FF914D"/>
                  </a:solidFill>
                  <a:latin typeface="Canva Sans Bold Italics"/>
                  <a:ea typeface="Canva Sans Bold Italics"/>
                  <a:cs typeface="Canva Sans Bold Italics"/>
                  <a:sym typeface="Canva Sans Bold Italics"/>
                </a:rPr>
                <a:t>Africans faced moderate or severe food insecurity</a:t>
              </a:r>
            </a:p>
            <a:p>
              <a:pPr algn="ctr">
                <a:lnSpc>
                  <a:spcPts val="4200"/>
                </a:lnSpc>
              </a:pPr>
            </a:p>
          </p:txBody>
        </p:sp>
      </p:grpSp>
      <p:grpSp>
        <p:nvGrpSpPr>
          <p:cNvPr name="Group 5" id="5"/>
          <p:cNvGrpSpPr/>
          <p:nvPr/>
        </p:nvGrpSpPr>
        <p:grpSpPr>
          <a:xfrm rot="0">
            <a:off x="524798" y="3616614"/>
            <a:ext cx="5380370" cy="2310100"/>
            <a:chOff x="0" y="0"/>
            <a:chExt cx="1273574" cy="546818"/>
          </a:xfrm>
        </p:grpSpPr>
        <p:sp>
          <p:nvSpPr>
            <p:cNvPr name="Freeform 6" id="6"/>
            <p:cNvSpPr/>
            <p:nvPr/>
          </p:nvSpPr>
          <p:spPr>
            <a:xfrm flipH="false" flipV="false" rot="0">
              <a:off x="0" y="0"/>
              <a:ext cx="1273574" cy="546818"/>
            </a:xfrm>
            <a:custGeom>
              <a:avLst/>
              <a:gdLst/>
              <a:ahLst/>
              <a:cxnLst/>
              <a:rect r="r" b="b" t="t" l="l"/>
              <a:pathLst>
                <a:path h="546818" w="1273574">
                  <a:moveTo>
                    <a:pt x="40290" y="0"/>
                  </a:moveTo>
                  <a:lnTo>
                    <a:pt x="1233284" y="0"/>
                  </a:lnTo>
                  <a:cubicBezTo>
                    <a:pt x="1243970" y="0"/>
                    <a:pt x="1254217" y="4245"/>
                    <a:pt x="1261773" y="11801"/>
                  </a:cubicBezTo>
                  <a:cubicBezTo>
                    <a:pt x="1269329" y="19356"/>
                    <a:pt x="1273574" y="29604"/>
                    <a:pt x="1273574" y="40290"/>
                  </a:cubicBezTo>
                  <a:lnTo>
                    <a:pt x="1273574" y="506528"/>
                  </a:lnTo>
                  <a:cubicBezTo>
                    <a:pt x="1273574" y="517214"/>
                    <a:pt x="1269329" y="527462"/>
                    <a:pt x="1261773" y="535017"/>
                  </a:cubicBezTo>
                  <a:cubicBezTo>
                    <a:pt x="1254217" y="542573"/>
                    <a:pt x="1243970" y="546818"/>
                    <a:pt x="1233284" y="546818"/>
                  </a:cubicBezTo>
                  <a:lnTo>
                    <a:pt x="40290" y="546818"/>
                  </a:lnTo>
                  <a:cubicBezTo>
                    <a:pt x="29604" y="546818"/>
                    <a:pt x="19356" y="542573"/>
                    <a:pt x="11801" y="535017"/>
                  </a:cubicBezTo>
                  <a:cubicBezTo>
                    <a:pt x="4245" y="527462"/>
                    <a:pt x="0" y="517214"/>
                    <a:pt x="0" y="506528"/>
                  </a:cubicBezTo>
                  <a:lnTo>
                    <a:pt x="0" y="40290"/>
                  </a:lnTo>
                  <a:cubicBezTo>
                    <a:pt x="0" y="29604"/>
                    <a:pt x="4245" y="19356"/>
                    <a:pt x="11801" y="11801"/>
                  </a:cubicBezTo>
                  <a:cubicBezTo>
                    <a:pt x="19356" y="4245"/>
                    <a:pt x="29604" y="0"/>
                    <a:pt x="40290" y="0"/>
                  </a:cubicBezTo>
                  <a:close/>
                </a:path>
              </a:pathLst>
            </a:custGeom>
            <a:ln w="19050" cap="rnd">
              <a:solidFill>
                <a:srgbClr val="FF914D"/>
              </a:solidFill>
              <a:prstDash val="solid"/>
              <a:round/>
            </a:ln>
          </p:spPr>
        </p:sp>
        <p:sp>
          <p:nvSpPr>
            <p:cNvPr name="TextBox 7" id="7"/>
            <p:cNvSpPr txBox="true"/>
            <p:nvPr/>
          </p:nvSpPr>
          <p:spPr>
            <a:xfrm>
              <a:off x="0" y="-57150"/>
              <a:ext cx="1273574" cy="603968"/>
            </a:xfrm>
            <a:prstGeom prst="rect">
              <a:avLst/>
            </a:prstGeom>
          </p:spPr>
          <p:txBody>
            <a:bodyPr anchor="ctr" rtlCol="false" tIns="50800" lIns="50800" bIns="50800" rIns="50800"/>
            <a:lstStyle/>
            <a:p>
              <a:pPr algn="ctr">
                <a:lnSpc>
                  <a:spcPts val="4200"/>
                </a:lnSpc>
              </a:pPr>
              <a:r>
                <a:rPr lang="en-US" sz="3000" b="true">
                  <a:solidFill>
                    <a:srgbClr val="FF914D"/>
                  </a:solidFill>
                  <a:latin typeface="Canva Sans Bold"/>
                  <a:ea typeface="Canva Sans Bold"/>
                  <a:cs typeface="Canva Sans Bold"/>
                  <a:sym typeface="Canva Sans Bold"/>
                </a:rPr>
                <a:t>1.05B tonnes</a:t>
              </a:r>
            </a:p>
            <a:p>
              <a:pPr algn="ctr">
                <a:lnSpc>
                  <a:spcPts val="4200"/>
                </a:lnSpc>
              </a:pPr>
              <a:r>
                <a:rPr lang="en-US" b="true" sz="3000" i="true">
                  <a:solidFill>
                    <a:srgbClr val="FF914D"/>
                  </a:solidFill>
                  <a:latin typeface="Canva Sans Bold Italics"/>
                  <a:ea typeface="Canva Sans Bold Italics"/>
                  <a:cs typeface="Canva Sans Bold Italics"/>
                  <a:sym typeface="Canva Sans Bold Italics"/>
                </a:rPr>
                <a:t>of food was wasted globally in 2022</a:t>
              </a:r>
            </a:p>
            <a:p>
              <a:pPr algn="ctr">
                <a:lnSpc>
                  <a:spcPts val="4200"/>
                </a:lnSpc>
              </a:pPr>
            </a:p>
          </p:txBody>
        </p:sp>
      </p:grpSp>
      <p:sp>
        <p:nvSpPr>
          <p:cNvPr name="TextBox 8" id="8"/>
          <p:cNvSpPr txBox="true"/>
          <p:nvPr/>
        </p:nvSpPr>
        <p:spPr>
          <a:xfrm rot="0">
            <a:off x="10342049" y="1844675"/>
            <a:ext cx="6559044" cy="2061601"/>
          </a:xfrm>
          <a:prstGeom prst="rect">
            <a:avLst/>
          </a:prstGeom>
        </p:spPr>
        <p:txBody>
          <a:bodyPr anchor="t" rtlCol="false" tIns="0" lIns="0" bIns="0" rIns="0">
            <a:spAutoFit/>
          </a:bodyPr>
          <a:lstStyle/>
          <a:p>
            <a:pPr algn="l">
              <a:lnSpc>
                <a:spcPts val="3499"/>
              </a:lnSpc>
            </a:pPr>
            <a:r>
              <a:rPr lang="en-US" sz="2499">
                <a:solidFill>
                  <a:srgbClr val="FF914D"/>
                </a:solidFill>
                <a:latin typeface="Poppins"/>
                <a:ea typeface="Poppins"/>
                <a:cs typeface="Poppins"/>
                <a:sym typeface="Poppins"/>
              </a:rPr>
              <a:t>🟢 </a:t>
            </a:r>
            <a:r>
              <a:rPr lang="en-US" sz="2499" b="true">
                <a:solidFill>
                  <a:srgbClr val="FF914D"/>
                </a:solidFill>
                <a:latin typeface="Poppins Bold"/>
                <a:ea typeface="Poppins Bold"/>
                <a:cs typeface="Poppins Bold"/>
                <a:sym typeface="Poppins Bold"/>
              </a:rPr>
              <a:t>SDG 2</a:t>
            </a:r>
          </a:p>
          <a:p>
            <a:pPr algn="l">
              <a:lnSpc>
                <a:spcPts val="3499"/>
              </a:lnSpc>
            </a:pPr>
            <a:r>
              <a:rPr lang="en-US" sz="2499" b="true">
                <a:solidFill>
                  <a:srgbClr val="FF914D"/>
                </a:solidFill>
                <a:latin typeface="Poppins Bold"/>
                <a:ea typeface="Poppins Bold"/>
                <a:cs typeface="Poppins Bold"/>
                <a:sym typeface="Poppins Bold"/>
              </a:rPr>
              <a:t>ZERO HUNGER:</a:t>
            </a:r>
          </a:p>
          <a:p>
            <a:pPr algn="l">
              <a:lnSpc>
                <a:spcPts val="3499"/>
              </a:lnSpc>
            </a:pPr>
            <a:r>
              <a:rPr lang="en-US" sz="2499" i="true">
                <a:solidFill>
                  <a:srgbClr val="FF914D"/>
                </a:solidFill>
                <a:latin typeface="Poppins Italics"/>
                <a:ea typeface="Poppins Italics"/>
                <a:cs typeface="Poppins Italics"/>
                <a:sym typeface="Poppins Italics"/>
              </a:rPr>
              <a:t>Improve access to food and contribute to ending hunger and food insecurity.</a:t>
            </a:r>
          </a:p>
          <a:p>
            <a:pPr algn="l">
              <a:lnSpc>
                <a:spcPts val="2336"/>
              </a:lnSpc>
              <a:spcBef>
                <a:spcPct val="0"/>
              </a:spcBef>
            </a:pPr>
          </a:p>
        </p:txBody>
      </p:sp>
      <p:sp>
        <p:nvSpPr>
          <p:cNvPr name="TextBox 9" id="9"/>
          <p:cNvSpPr txBox="true"/>
          <p:nvPr/>
        </p:nvSpPr>
        <p:spPr>
          <a:xfrm rot="0">
            <a:off x="3214983" y="198120"/>
            <a:ext cx="12584627" cy="830580"/>
          </a:xfrm>
          <a:prstGeom prst="rect">
            <a:avLst/>
          </a:prstGeom>
        </p:spPr>
        <p:txBody>
          <a:bodyPr anchor="t" rtlCol="false" tIns="0" lIns="0" bIns="0" rIns="0">
            <a:spAutoFit/>
          </a:bodyPr>
          <a:lstStyle/>
          <a:p>
            <a:pPr algn="ctr">
              <a:lnSpc>
                <a:spcPts val="5759"/>
              </a:lnSpc>
            </a:pPr>
            <a:r>
              <a:rPr lang="en-US" b="true" sz="6000" spc="-294">
                <a:solidFill>
                  <a:srgbClr val="233F25"/>
                </a:solidFill>
                <a:latin typeface="Poppins Bold"/>
                <a:ea typeface="Poppins Bold"/>
                <a:cs typeface="Poppins Bold"/>
                <a:sym typeface="Poppins Bold"/>
              </a:rPr>
              <a:t>WHY THIS MATTERS</a:t>
            </a:r>
          </a:p>
        </p:txBody>
      </p:sp>
      <p:sp>
        <p:nvSpPr>
          <p:cNvPr name="TextBox 10" id="10"/>
          <p:cNvSpPr txBox="true"/>
          <p:nvPr/>
        </p:nvSpPr>
        <p:spPr>
          <a:xfrm rot="0">
            <a:off x="3663046" y="9201150"/>
            <a:ext cx="10961909" cy="1172845"/>
          </a:xfrm>
          <a:prstGeom prst="rect">
            <a:avLst/>
          </a:prstGeom>
        </p:spPr>
        <p:txBody>
          <a:bodyPr anchor="t" rtlCol="false" tIns="0" lIns="0" bIns="0" rIns="0">
            <a:spAutoFit/>
          </a:bodyPr>
          <a:lstStyle/>
          <a:p>
            <a:pPr algn="l">
              <a:lnSpc>
                <a:spcPts val="3079"/>
              </a:lnSpc>
            </a:pPr>
            <a:r>
              <a:rPr lang="en-US" sz="2199" i="true">
                <a:solidFill>
                  <a:srgbClr val="233F25"/>
                </a:solidFill>
                <a:latin typeface="Poppins Italics"/>
                <a:ea typeface="Poppins Italics"/>
                <a:cs typeface="Poppins Italics"/>
                <a:sym typeface="Poppins Italics"/>
              </a:rPr>
              <a:t>Sources: FAO, Africa Regional Overview of Food Security and Nutrition 2025; UNEP, Food Waste Index Report 2024.</a:t>
            </a:r>
          </a:p>
          <a:p>
            <a:pPr algn="l">
              <a:lnSpc>
                <a:spcPts val="3079"/>
              </a:lnSpc>
              <a:spcBef>
                <a:spcPct val="0"/>
              </a:spcBef>
            </a:pPr>
          </a:p>
        </p:txBody>
      </p:sp>
      <p:grpSp>
        <p:nvGrpSpPr>
          <p:cNvPr name="Group 11" id="11"/>
          <p:cNvGrpSpPr/>
          <p:nvPr/>
        </p:nvGrpSpPr>
        <p:grpSpPr>
          <a:xfrm rot="0">
            <a:off x="524798" y="1028700"/>
            <a:ext cx="5380370" cy="2309552"/>
            <a:chOff x="0" y="0"/>
            <a:chExt cx="1273574" cy="546688"/>
          </a:xfrm>
        </p:grpSpPr>
        <p:sp>
          <p:nvSpPr>
            <p:cNvPr name="Freeform 12" id="12"/>
            <p:cNvSpPr/>
            <p:nvPr/>
          </p:nvSpPr>
          <p:spPr>
            <a:xfrm flipH="false" flipV="false" rot="0">
              <a:off x="0" y="0"/>
              <a:ext cx="1273574" cy="546688"/>
            </a:xfrm>
            <a:custGeom>
              <a:avLst/>
              <a:gdLst/>
              <a:ahLst/>
              <a:cxnLst/>
              <a:rect r="r" b="b" t="t" l="l"/>
              <a:pathLst>
                <a:path h="546688" w="1273574">
                  <a:moveTo>
                    <a:pt x="40290" y="0"/>
                  </a:moveTo>
                  <a:lnTo>
                    <a:pt x="1233284" y="0"/>
                  </a:lnTo>
                  <a:cubicBezTo>
                    <a:pt x="1243970" y="0"/>
                    <a:pt x="1254217" y="4245"/>
                    <a:pt x="1261773" y="11801"/>
                  </a:cubicBezTo>
                  <a:cubicBezTo>
                    <a:pt x="1269329" y="19356"/>
                    <a:pt x="1273574" y="29604"/>
                    <a:pt x="1273574" y="40290"/>
                  </a:cubicBezTo>
                  <a:lnTo>
                    <a:pt x="1273574" y="506398"/>
                  </a:lnTo>
                  <a:cubicBezTo>
                    <a:pt x="1273574" y="528650"/>
                    <a:pt x="1255535" y="546688"/>
                    <a:pt x="1233284" y="546688"/>
                  </a:cubicBezTo>
                  <a:lnTo>
                    <a:pt x="40290" y="546688"/>
                  </a:lnTo>
                  <a:cubicBezTo>
                    <a:pt x="29604" y="546688"/>
                    <a:pt x="19356" y="542443"/>
                    <a:pt x="11801" y="534888"/>
                  </a:cubicBezTo>
                  <a:cubicBezTo>
                    <a:pt x="4245" y="527332"/>
                    <a:pt x="0" y="517084"/>
                    <a:pt x="0" y="506398"/>
                  </a:cubicBezTo>
                  <a:lnTo>
                    <a:pt x="0" y="40290"/>
                  </a:lnTo>
                  <a:cubicBezTo>
                    <a:pt x="0" y="29604"/>
                    <a:pt x="4245" y="19356"/>
                    <a:pt x="11801" y="11801"/>
                  </a:cubicBezTo>
                  <a:cubicBezTo>
                    <a:pt x="19356" y="4245"/>
                    <a:pt x="29604" y="0"/>
                    <a:pt x="40290" y="0"/>
                  </a:cubicBezTo>
                  <a:close/>
                </a:path>
              </a:pathLst>
            </a:custGeom>
            <a:ln w="19050" cap="rnd">
              <a:solidFill>
                <a:srgbClr val="FF914D"/>
              </a:solidFill>
              <a:prstDash val="solid"/>
              <a:round/>
            </a:ln>
          </p:spPr>
        </p:sp>
        <p:sp>
          <p:nvSpPr>
            <p:cNvPr name="TextBox 13" id="13"/>
            <p:cNvSpPr txBox="true"/>
            <p:nvPr/>
          </p:nvSpPr>
          <p:spPr>
            <a:xfrm>
              <a:off x="0" y="-57150"/>
              <a:ext cx="1273574" cy="603838"/>
            </a:xfrm>
            <a:prstGeom prst="rect">
              <a:avLst/>
            </a:prstGeom>
          </p:spPr>
          <p:txBody>
            <a:bodyPr anchor="ctr" rtlCol="false" tIns="50800" lIns="50800" bIns="50800" rIns="50800"/>
            <a:lstStyle/>
            <a:p>
              <a:pPr algn="ctr">
                <a:lnSpc>
                  <a:spcPts val="4200"/>
                </a:lnSpc>
              </a:pPr>
              <a:r>
                <a:rPr lang="en-US" sz="3000" b="true">
                  <a:solidFill>
                    <a:srgbClr val="FF914D"/>
                  </a:solidFill>
                  <a:latin typeface="Canva Sans Bold"/>
                  <a:ea typeface="Canva Sans Bold"/>
                  <a:cs typeface="Canva Sans Bold"/>
                  <a:sym typeface="Canva Sans Bold"/>
                </a:rPr>
                <a:t>306M</a:t>
              </a:r>
            </a:p>
            <a:p>
              <a:pPr algn="ctr">
                <a:lnSpc>
                  <a:spcPts val="4200"/>
                </a:lnSpc>
              </a:pPr>
              <a:r>
                <a:rPr lang="en-US" b="true" sz="3000" i="true">
                  <a:solidFill>
                    <a:srgbClr val="FF914D"/>
                  </a:solidFill>
                  <a:latin typeface="Canva Sans Bold Italics"/>
                  <a:ea typeface="Canva Sans Bold Italics"/>
                  <a:cs typeface="Canva Sans Bold Italics"/>
                  <a:sym typeface="Canva Sans Bold Italics"/>
                </a:rPr>
                <a:t>Africans were undernourished in 2024</a:t>
              </a:r>
            </a:p>
            <a:p>
              <a:pPr algn="ctr">
                <a:lnSpc>
                  <a:spcPts val="4200"/>
                </a:lnSpc>
              </a:pPr>
            </a:p>
          </p:txBody>
        </p:sp>
      </p:grpSp>
      <p:sp>
        <p:nvSpPr>
          <p:cNvPr name="TextBox 14" id="14"/>
          <p:cNvSpPr txBox="true"/>
          <p:nvPr/>
        </p:nvSpPr>
        <p:spPr>
          <a:xfrm rot="0">
            <a:off x="10342049" y="1244600"/>
            <a:ext cx="5372644" cy="542925"/>
          </a:xfrm>
          <a:prstGeom prst="rect">
            <a:avLst/>
          </a:prstGeom>
        </p:spPr>
        <p:txBody>
          <a:bodyPr anchor="t" rtlCol="false" tIns="0" lIns="0" bIns="0" rIns="0">
            <a:spAutoFit/>
          </a:bodyPr>
          <a:lstStyle/>
          <a:p>
            <a:pPr algn="l">
              <a:lnSpc>
                <a:spcPts val="4200"/>
              </a:lnSpc>
              <a:spcBef>
                <a:spcPct val="0"/>
              </a:spcBef>
            </a:pPr>
            <a:r>
              <a:rPr lang="en-US" b="true" sz="3000" i="true">
                <a:solidFill>
                  <a:srgbClr val="FF914D"/>
                </a:solidFill>
                <a:latin typeface="Poppins Bold Italics"/>
                <a:ea typeface="Poppins Bold Italics"/>
                <a:cs typeface="Poppins Bold Italics"/>
                <a:sym typeface="Poppins Bold Italics"/>
              </a:rPr>
              <a:t>OUR SOLUTION SUPPORTS</a:t>
            </a:r>
          </a:p>
        </p:txBody>
      </p:sp>
      <p:sp>
        <p:nvSpPr>
          <p:cNvPr name="TextBox 15" id="15"/>
          <p:cNvSpPr txBox="true"/>
          <p:nvPr/>
        </p:nvSpPr>
        <p:spPr>
          <a:xfrm rot="0">
            <a:off x="10342049" y="4107123"/>
            <a:ext cx="6559044" cy="2184400"/>
          </a:xfrm>
          <a:prstGeom prst="rect">
            <a:avLst/>
          </a:prstGeom>
        </p:spPr>
        <p:txBody>
          <a:bodyPr anchor="t" rtlCol="false" tIns="0" lIns="0" bIns="0" rIns="0">
            <a:spAutoFit/>
          </a:bodyPr>
          <a:lstStyle/>
          <a:p>
            <a:pPr algn="l">
              <a:lnSpc>
                <a:spcPts val="3499"/>
              </a:lnSpc>
            </a:pPr>
            <a:r>
              <a:rPr lang="en-US" sz="2499" b="true">
                <a:solidFill>
                  <a:srgbClr val="FF914D"/>
                </a:solidFill>
                <a:latin typeface="Arimo Bold"/>
                <a:ea typeface="Arimo Bold"/>
                <a:cs typeface="Arimo Bold"/>
                <a:sym typeface="Arimo Bold"/>
              </a:rPr>
              <a:t>🔵 SDG 12.3</a:t>
            </a:r>
          </a:p>
          <a:p>
            <a:pPr algn="l">
              <a:lnSpc>
                <a:spcPts val="3499"/>
              </a:lnSpc>
            </a:pPr>
            <a:r>
              <a:rPr lang="en-US" sz="2499" b="true">
                <a:solidFill>
                  <a:srgbClr val="FF914D"/>
                </a:solidFill>
                <a:latin typeface="Arimo Bold"/>
                <a:ea typeface="Arimo Bold"/>
                <a:cs typeface="Arimo Bold"/>
                <a:sym typeface="Arimo Bold"/>
              </a:rPr>
              <a:t>RESPONSIBLE CONSUMPTION &amp; PRODUCTION:</a:t>
            </a:r>
          </a:p>
          <a:p>
            <a:pPr algn="l">
              <a:lnSpc>
                <a:spcPts val="3499"/>
              </a:lnSpc>
              <a:spcBef>
                <a:spcPct val="0"/>
              </a:spcBef>
            </a:pPr>
            <a:r>
              <a:rPr lang="en-US" sz="2499" i="true">
                <a:solidFill>
                  <a:srgbClr val="FF914D"/>
                </a:solidFill>
                <a:latin typeface="Arimo Italics"/>
                <a:ea typeface="Arimo Italics"/>
                <a:cs typeface="Arimo Italics"/>
                <a:sym typeface="Arimo Italics"/>
              </a:rPr>
              <a:t>Help reduce food waste at the retail and consumer levels.</a:t>
            </a:r>
          </a:p>
        </p:txBody>
      </p:sp>
      <p:sp>
        <p:nvSpPr>
          <p:cNvPr name="TextBox 16" id="16"/>
          <p:cNvSpPr txBox="true"/>
          <p:nvPr/>
        </p:nvSpPr>
        <p:spPr>
          <a:xfrm rot="0">
            <a:off x="10342049" y="6939223"/>
            <a:ext cx="6559044" cy="2184400"/>
          </a:xfrm>
          <a:prstGeom prst="rect">
            <a:avLst/>
          </a:prstGeom>
        </p:spPr>
        <p:txBody>
          <a:bodyPr anchor="t" rtlCol="false" tIns="0" lIns="0" bIns="0" rIns="0">
            <a:spAutoFit/>
          </a:bodyPr>
          <a:lstStyle/>
          <a:p>
            <a:pPr algn="l">
              <a:lnSpc>
                <a:spcPts val="3499"/>
              </a:lnSpc>
            </a:pPr>
            <a:r>
              <a:rPr lang="en-US" sz="2499" b="true">
                <a:solidFill>
                  <a:srgbClr val="FF914D"/>
                </a:solidFill>
                <a:latin typeface="Arimo Bold"/>
                <a:ea typeface="Arimo Bold"/>
                <a:cs typeface="Arimo Bold"/>
                <a:sym typeface="Arimo Bold"/>
              </a:rPr>
              <a:t>🌍 SDG 13</a:t>
            </a:r>
          </a:p>
          <a:p>
            <a:pPr algn="l">
              <a:lnSpc>
                <a:spcPts val="3499"/>
              </a:lnSpc>
            </a:pPr>
            <a:r>
              <a:rPr lang="en-US" sz="2499" b="true">
                <a:solidFill>
                  <a:srgbClr val="FF914D"/>
                </a:solidFill>
                <a:latin typeface="Arimo Bold"/>
                <a:ea typeface="Arimo Bold"/>
                <a:cs typeface="Arimo Bold"/>
                <a:sym typeface="Arimo Bold"/>
              </a:rPr>
              <a:t>CLIMATE ACTION</a:t>
            </a:r>
          </a:p>
          <a:p>
            <a:pPr algn="l">
              <a:lnSpc>
                <a:spcPts val="3499"/>
              </a:lnSpc>
              <a:spcBef>
                <a:spcPct val="0"/>
              </a:spcBef>
            </a:pPr>
            <a:r>
              <a:rPr lang="en-US" sz="2499" i="true">
                <a:solidFill>
                  <a:srgbClr val="FF914D"/>
                </a:solidFill>
                <a:latin typeface="Arimo Italics"/>
                <a:ea typeface="Arimo Italics"/>
                <a:cs typeface="Arimo Italics"/>
                <a:sym typeface="Arimo Italics"/>
              </a:rPr>
              <a:t>Reducing food waste also reduces the environmental impact associated with wasted food.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sp>
        <p:nvSpPr>
          <p:cNvPr name="TextBox 2" id="2"/>
          <p:cNvSpPr txBox="true"/>
          <p:nvPr/>
        </p:nvSpPr>
        <p:spPr>
          <a:xfrm rot="0">
            <a:off x="2434782" y="1748960"/>
            <a:ext cx="13418437" cy="1304925"/>
          </a:xfrm>
          <a:prstGeom prst="rect">
            <a:avLst/>
          </a:prstGeom>
        </p:spPr>
        <p:txBody>
          <a:bodyPr anchor="t" rtlCol="false" tIns="0" lIns="0" bIns="0" rIns="0">
            <a:spAutoFit/>
          </a:bodyPr>
          <a:lstStyle/>
          <a:p>
            <a:pPr algn="l">
              <a:lnSpc>
                <a:spcPts val="4800"/>
              </a:lnSpc>
            </a:pPr>
            <a:r>
              <a:rPr lang="en-US" b="true" sz="5000" i="true" spc="-245">
                <a:solidFill>
                  <a:srgbClr val="233F25"/>
                </a:solidFill>
                <a:latin typeface="Poppins Bold Italics"/>
                <a:ea typeface="Poppins Bold Italics"/>
                <a:cs typeface="Poppins Bold Italics"/>
                <a:sym typeface="Poppins Bold Italics"/>
              </a:rPr>
              <a:t>THE PROBLEM ISN’T ALWAYS A LACK OF FOOD.</a:t>
            </a:r>
          </a:p>
          <a:p>
            <a:pPr algn="l">
              <a:lnSpc>
                <a:spcPts val="4800"/>
              </a:lnSpc>
            </a:pPr>
            <a:r>
              <a:rPr lang="en-US" b="true" sz="5000" i="true" spc="-245">
                <a:solidFill>
                  <a:srgbClr val="233F25"/>
                </a:solidFill>
                <a:latin typeface="Poppins Bold Italics"/>
                <a:ea typeface="Poppins Bold Italics"/>
                <a:cs typeface="Poppins Bold Italics"/>
                <a:sym typeface="Poppins Bold Italics"/>
              </a:rPr>
              <a:t>IT’S A LACK OF CONNECTION.</a:t>
            </a:r>
          </a:p>
        </p:txBody>
      </p:sp>
      <p:grpSp>
        <p:nvGrpSpPr>
          <p:cNvPr name="Group 3" id="3"/>
          <p:cNvGrpSpPr/>
          <p:nvPr/>
        </p:nvGrpSpPr>
        <p:grpSpPr>
          <a:xfrm rot="0">
            <a:off x="5877242" y="4288435"/>
            <a:ext cx="5378857" cy="4969865"/>
            <a:chOff x="0" y="0"/>
            <a:chExt cx="1168588" cy="1079732"/>
          </a:xfrm>
        </p:grpSpPr>
        <p:sp>
          <p:nvSpPr>
            <p:cNvPr name="Freeform 4" id="4"/>
            <p:cNvSpPr/>
            <p:nvPr/>
          </p:nvSpPr>
          <p:spPr>
            <a:xfrm flipH="false" flipV="false" rot="0">
              <a:off x="0" y="0"/>
              <a:ext cx="1168588" cy="1079732"/>
            </a:xfrm>
            <a:custGeom>
              <a:avLst/>
              <a:gdLst/>
              <a:ahLst/>
              <a:cxnLst/>
              <a:rect r="r" b="b" t="t" l="l"/>
              <a:pathLst>
                <a:path h="1079732" w="1168588">
                  <a:moveTo>
                    <a:pt x="0" y="0"/>
                  </a:moveTo>
                  <a:lnTo>
                    <a:pt x="1168588" y="0"/>
                  </a:lnTo>
                  <a:lnTo>
                    <a:pt x="1168588" y="1079732"/>
                  </a:lnTo>
                  <a:lnTo>
                    <a:pt x="0" y="1079732"/>
                  </a:lnTo>
                  <a:close/>
                </a:path>
              </a:pathLst>
            </a:custGeom>
            <a:blipFill>
              <a:blip r:embed="rId2"/>
              <a:stretch>
                <a:fillRect l="0" t="-1950" r="0" b="-1950"/>
              </a:stretch>
            </a:blipFill>
          </p:spPr>
        </p:sp>
      </p:grpSp>
      <p:sp>
        <p:nvSpPr>
          <p:cNvPr name="TextBox 5" id="5"/>
          <p:cNvSpPr txBox="true"/>
          <p:nvPr/>
        </p:nvSpPr>
        <p:spPr>
          <a:xfrm rot="0">
            <a:off x="5877242" y="772478"/>
            <a:ext cx="8701643" cy="560070"/>
          </a:xfrm>
          <a:prstGeom prst="rect">
            <a:avLst/>
          </a:prstGeom>
        </p:spPr>
        <p:txBody>
          <a:bodyPr anchor="t" rtlCol="false" tIns="0" lIns="0" bIns="0" rIns="0">
            <a:spAutoFit/>
          </a:bodyPr>
          <a:lstStyle/>
          <a:p>
            <a:pPr algn="l">
              <a:lnSpc>
                <a:spcPts val="3839"/>
              </a:lnSpc>
            </a:pPr>
            <a:r>
              <a:rPr lang="en-US" sz="3999" spc="-195" b="true">
                <a:solidFill>
                  <a:srgbClr val="FF914D"/>
                </a:solidFill>
                <a:latin typeface="Poppins Bold"/>
                <a:ea typeface="Poppins Bold"/>
                <a:cs typeface="Poppins Bold"/>
                <a:sym typeface="Poppins Bold"/>
              </a:rPr>
              <a:t>OUR KEY INSIGHT</a:t>
            </a:r>
          </a:p>
        </p:txBody>
      </p:sp>
      <p:sp>
        <p:nvSpPr>
          <p:cNvPr name="TextBox 6" id="6"/>
          <p:cNvSpPr txBox="true"/>
          <p:nvPr/>
        </p:nvSpPr>
        <p:spPr>
          <a:xfrm rot="0">
            <a:off x="768580" y="3589246"/>
            <a:ext cx="6342776" cy="7061200"/>
          </a:xfrm>
          <a:prstGeom prst="rect">
            <a:avLst/>
          </a:prstGeom>
        </p:spPr>
        <p:txBody>
          <a:bodyPr anchor="t" rtlCol="false" tIns="0" lIns="0" bIns="0" rIns="0">
            <a:spAutoFit/>
          </a:bodyPr>
          <a:lstStyle/>
          <a:p>
            <a:pPr algn="l">
              <a:lnSpc>
                <a:spcPts val="5599"/>
              </a:lnSpc>
            </a:pPr>
            <a:r>
              <a:rPr lang="en-US" sz="3999" b="true">
                <a:solidFill>
                  <a:srgbClr val="FF914D"/>
                </a:solidFill>
                <a:latin typeface="Poppins Bold"/>
                <a:ea typeface="Poppins Bold"/>
                <a:cs typeface="Poppins Bold"/>
                <a:sym typeface="Poppins Bold"/>
              </a:rPr>
              <a:t>BEFORE</a:t>
            </a:r>
          </a:p>
          <a:p>
            <a:pPr algn="l">
              <a:lnSpc>
                <a:spcPts val="5599"/>
              </a:lnSpc>
            </a:pPr>
          </a:p>
          <a:p>
            <a:pPr algn="l">
              <a:lnSpc>
                <a:spcPts val="5599"/>
              </a:lnSpc>
            </a:pPr>
            <a:r>
              <a:rPr lang="en-US" sz="3999">
                <a:solidFill>
                  <a:srgbClr val="FF914D"/>
                </a:solidFill>
                <a:latin typeface="Poppins"/>
                <a:ea typeface="Poppins"/>
                <a:cs typeface="Poppins"/>
                <a:sym typeface="Poppins"/>
              </a:rPr>
              <a:t>🏪 Vendor</a:t>
            </a:r>
          </a:p>
          <a:p>
            <a:pPr algn="l">
              <a:lnSpc>
                <a:spcPts val="5599"/>
              </a:lnSpc>
            </a:pPr>
            <a:r>
              <a:rPr lang="en-US" sz="3999">
                <a:solidFill>
                  <a:srgbClr val="FF914D"/>
                </a:solidFill>
                <a:latin typeface="Poppins"/>
                <a:ea typeface="Poppins"/>
                <a:cs typeface="Poppins"/>
                <a:sym typeface="Poppins"/>
              </a:rPr>
              <a:t>↓</a:t>
            </a:r>
          </a:p>
          <a:p>
            <a:pPr algn="l">
              <a:lnSpc>
                <a:spcPts val="5599"/>
              </a:lnSpc>
            </a:pPr>
            <a:r>
              <a:rPr lang="en-US" sz="3999">
                <a:solidFill>
                  <a:srgbClr val="FF914D"/>
                </a:solidFill>
                <a:latin typeface="Poppins"/>
                <a:ea typeface="Poppins"/>
                <a:cs typeface="Poppins"/>
                <a:sym typeface="Poppins"/>
              </a:rPr>
              <a:t>🥬 Surplus food</a:t>
            </a:r>
          </a:p>
          <a:p>
            <a:pPr algn="l">
              <a:lnSpc>
                <a:spcPts val="5599"/>
              </a:lnSpc>
            </a:pPr>
            <a:r>
              <a:rPr lang="en-US" sz="3999">
                <a:solidFill>
                  <a:srgbClr val="FF914D"/>
                </a:solidFill>
                <a:latin typeface="Poppins"/>
                <a:ea typeface="Poppins"/>
                <a:cs typeface="Poppins"/>
                <a:sym typeface="Poppins"/>
              </a:rPr>
              <a:t>↓</a:t>
            </a:r>
          </a:p>
          <a:p>
            <a:pPr algn="l">
              <a:lnSpc>
                <a:spcPts val="5599"/>
              </a:lnSpc>
            </a:pPr>
            <a:r>
              <a:rPr lang="en-US" sz="3999">
                <a:solidFill>
                  <a:srgbClr val="FF914D"/>
                </a:solidFill>
                <a:latin typeface="Poppins"/>
                <a:ea typeface="Poppins"/>
                <a:cs typeface="Poppins"/>
                <a:sym typeface="Poppins"/>
              </a:rPr>
              <a:t>❌ No connection</a:t>
            </a:r>
          </a:p>
          <a:p>
            <a:pPr algn="l">
              <a:lnSpc>
                <a:spcPts val="5599"/>
              </a:lnSpc>
            </a:pPr>
            <a:r>
              <a:rPr lang="en-US" sz="3999">
                <a:solidFill>
                  <a:srgbClr val="FF914D"/>
                </a:solidFill>
                <a:latin typeface="Poppins"/>
                <a:ea typeface="Poppins"/>
                <a:cs typeface="Poppins"/>
                <a:sym typeface="Poppins"/>
              </a:rPr>
              <a:t>↓</a:t>
            </a:r>
          </a:p>
          <a:p>
            <a:pPr algn="l">
              <a:lnSpc>
                <a:spcPts val="5599"/>
              </a:lnSpc>
            </a:pPr>
            <a:r>
              <a:rPr lang="en-US" sz="3999">
                <a:solidFill>
                  <a:srgbClr val="FF914D"/>
                </a:solidFill>
                <a:latin typeface="Poppins"/>
                <a:ea typeface="Poppins"/>
                <a:cs typeface="Poppins"/>
                <a:sym typeface="Poppins"/>
              </a:rPr>
              <a:t>🗑️ Waste</a:t>
            </a:r>
          </a:p>
          <a:p>
            <a:pPr algn="l">
              <a:lnSpc>
                <a:spcPts val="5599"/>
              </a:lnSpc>
              <a:spcBef>
                <a:spcPct val="0"/>
              </a:spcBef>
            </a:pPr>
          </a:p>
        </p:txBody>
      </p:sp>
      <p:sp>
        <p:nvSpPr>
          <p:cNvPr name="TextBox 7" id="7"/>
          <p:cNvSpPr txBox="true"/>
          <p:nvPr/>
        </p:nvSpPr>
        <p:spPr>
          <a:xfrm rot="0">
            <a:off x="12230618" y="3617821"/>
            <a:ext cx="6342776" cy="7032625"/>
          </a:xfrm>
          <a:prstGeom prst="rect">
            <a:avLst/>
          </a:prstGeom>
        </p:spPr>
        <p:txBody>
          <a:bodyPr anchor="t" rtlCol="false" tIns="0" lIns="0" bIns="0" rIns="0">
            <a:spAutoFit/>
          </a:bodyPr>
          <a:lstStyle/>
          <a:p>
            <a:pPr algn="l">
              <a:lnSpc>
                <a:spcPts val="5599"/>
              </a:lnSpc>
            </a:pPr>
            <a:r>
              <a:rPr lang="en-US" sz="3999" b="true">
                <a:solidFill>
                  <a:srgbClr val="FF914D"/>
                </a:solidFill>
                <a:latin typeface="Arimo Bold"/>
                <a:ea typeface="Arimo Bold"/>
                <a:cs typeface="Arimo Bold"/>
                <a:sym typeface="Arimo Bold"/>
              </a:rPr>
              <a:t>THE OPPORTUNITY</a:t>
            </a:r>
          </a:p>
          <a:p>
            <a:pPr algn="l">
              <a:lnSpc>
                <a:spcPts val="5599"/>
              </a:lnSpc>
            </a:pPr>
            <a:r>
              <a:rPr lang="en-US" sz="3999">
                <a:solidFill>
                  <a:srgbClr val="FF914D"/>
                </a:solidFill>
                <a:latin typeface="Arimo"/>
                <a:ea typeface="Arimo"/>
                <a:cs typeface="Arimo"/>
                <a:sym typeface="Arimo"/>
              </a:rPr>
              <a:t>🏪 Vendor</a:t>
            </a:r>
          </a:p>
          <a:p>
            <a:pPr algn="l">
              <a:lnSpc>
                <a:spcPts val="5599"/>
              </a:lnSpc>
            </a:pPr>
            <a:r>
              <a:rPr lang="en-US" sz="3999">
                <a:solidFill>
                  <a:srgbClr val="FF914D"/>
                </a:solidFill>
                <a:latin typeface="Arimo"/>
                <a:ea typeface="Arimo"/>
                <a:cs typeface="Arimo"/>
                <a:sym typeface="Arimo"/>
              </a:rPr>
              <a:t>↓</a:t>
            </a:r>
          </a:p>
          <a:p>
            <a:pPr algn="l">
              <a:lnSpc>
                <a:spcPts val="5599"/>
              </a:lnSpc>
            </a:pPr>
            <a:r>
              <a:rPr lang="en-US" sz="3999" b="true">
                <a:solidFill>
                  <a:srgbClr val="FF914D"/>
                </a:solidFill>
                <a:latin typeface="Arimo Bold"/>
                <a:ea typeface="Arimo Bold"/>
                <a:cs typeface="Arimo Bold"/>
                <a:sym typeface="Arimo Bold"/>
              </a:rPr>
              <a:t>BAKI</a:t>
            </a:r>
          </a:p>
          <a:p>
            <a:pPr algn="l">
              <a:lnSpc>
                <a:spcPts val="5599"/>
              </a:lnSpc>
            </a:pPr>
            <a:r>
              <a:rPr lang="en-US" sz="3999">
                <a:solidFill>
                  <a:srgbClr val="FF914D"/>
                </a:solidFill>
                <a:latin typeface="Arimo"/>
                <a:ea typeface="Arimo"/>
                <a:cs typeface="Arimo"/>
                <a:sym typeface="Arimo"/>
              </a:rPr>
              <a:t>↓</a:t>
            </a:r>
          </a:p>
          <a:p>
            <a:pPr algn="l">
              <a:lnSpc>
                <a:spcPts val="5599"/>
              </a:lnSpc>
            </a:pPr>
            <a:r>
              <a:rPr lang="en-US" sz="3999">
                <a:solidFill>
                  <a:srgbClr val="FF914D"/>
                </a:solidFill>
                <a:latin typeface="Arimo"/>
                <a:ea typeface="Arimo"/>
                <a:cs typeface="Arimo"/>
                <a:sym typeface="Arimo"/>
              </a:rPr>
              <a:t>🤝 NGO / Pantry / Community</a:t>
            </a:r>
          </a:p>
          <a:p>
            <a:pPr algn="l">
              <a:lnSpc>
                <a:spcPts val="5599"/>
              </a:lnSpc>
            </a:pPr>
            <a:r>
              <a:rPr lang="en-US" sz="3999">
                <a:solidFill>
                  <a:srgbClr val="FF914D"/>
                </a:solidFill>
                <a:latin typeface="Arimo"/>
                <a:ea typeface="Arimo"/>
                <a:cs typeface="Arimo"/>
                <a:sym typeface="Arimo"/>
              </a:rPr>
              <a:t>↓</a:t>
            </a:r>
          </a:p>
          <a:p>
            <a:pPr algn="l">
              <a:lnSpc>
                <a:spcPts val="5599"/>
              </a:lnSpc>
            </a:pPr>
            <a:r>
              <a:rPr lang="en-US" sz="3999">
                <a:solidFill>
                  <a:srgbClr val="FF914D"/>
                </a:solidFill>
                <a:latin typeface="Arimo"/>
                <a:ea typeface="Arimo"/>
                <a:cs typeface="Arimo"/>
                <a:sym typeface="Arimo"/>
              </a:rPr>
              <a:t>🍽️ Redistribution</a:t>
            </a:r>
          </a:p>
          <a:p>
            <a:pPr algn="l">
              <a:lnSpc>
                <a:spcPts val="559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sp>
        <p:nvSpPr>
          <p:cNvPr name="TextBox 2" id="2"/>
          <p:cNvSpPr txBox="true"/>
          <p:nvPr/>
        </p:nvSpPr>
        <p:spPr>
          <a:xfrm rot="0">
            <a:off x="1028700" y="5721350"/>
            <a:ext cx="6989695" cy="3536950"/>
          </a:xfrm>
          <a:prstGeom prst="rect">
            <a:avLst/>
          </a:prstGeom>
        </p:spPr>
        <p:txBody>
          <a:bodyPr anchor="t" rtlCol="false" tIns="0" lIns="0" bIns="0" rIns="0">
            <a:spAutoFit/>
          </a:bodyPr>
          <a:lstStyle/>
          <a:p>
            <a:pPr algn="l">
              <a:lnSpc>
                <a:spcPts val="5599"/>
              </a:lnSpc>
              <a:spcBef>
                <a:spcPct val="0"/>
              </a:spcBef>
            </a:pPr>
            <a:r>
              <a:rPr lang="en-US" sz="3999" i="true">
                <a:solidFill>
                  <a:srgbClr val="233F25"/>
                </a:solidFill>
                <a:latin typeface="Poppins Italics"/>
                <a:ea typeface="Poppins Italics"/>
                <a:cs typeface="Poppins Italics"/>
                <a:sym typeface="Poppins Italics"/>
              </a:rPr>
              <a:t>A digital coordination platform connecting surplus food with people and organisations that can use it.</a:t>
            </a:r>
          </a:p>
        </p:txBody>
      </p:sp>
      <p:sp>
        <p:nvSpPr>
          <p:cNvPr name="TextBox 3" id="3"/>
          <p:cNvSpPr txBox="true"/>
          <p:nvPr/>
        </p:nvSpPr>
        <p:spPr>
          <a:xfrm rot="0">
            <a:off x="1028700" y="1766820"/>
            <a:ext cx="7660491" cy="1231899"/>
          </a:xfrm>
          <a:prstGeom prst="rect">
            <a:avLst/>
          </a:prstGeom>
        </p:spPr>
        <p:txBody>
          <a:bodyPr anchor="t" rtlCol="false" tIns="0" lIns="0" bIns="0" rIns="0">
            <a:spAutoFit/>
          </a:bodyPr>
          <a:lstStyle/>
          <a:p>
            <a:pPr algn="l">
              <a:lnSpc>
                <a:spcPts val="7999"/>
              </a:lnSpc>
            </a:pPr>
            <a:r>
              <a:rPr lang="en-US" b="true" sz="9999" spc="-489">
                <a:solidFill>
                  <a:srgbClr val="233F25"/>
                </a:solidFill>
                <a:latin typeface="Poppins Bold"/>
                <a:ea typeface="Poppins Bold"/>
                <a:cs typeface="Poppins Bold"/>
                <a:sym typeface="Poppins Bold"/>
              </a:rPr>
              <a:t>MEET BAKI</a:t>
            </a:r>
          </a:p>
        </p:txBody>
      </p:sp>
      <p:grpSp>
        <p:nvGrpSpPr>
          <p:cNvPr name="Group 4" id="4"/>
          <p:cNvGrpSpPr/>
          <p:nvPr/>
        </p:nvGrpSpPr>
        <p:grpSpPr>
          <a:xfrm rot="0">
            <a:off x="11363637" y="1481070"/>
            <a:ext cx="5925839" cy="8344472"/>
            <a:chOff x="0" y="0"/>
            <a:chExt cx="2251432" cy="3170354"/>
          </a:xfrm>
        </p:grpSpPr>
        <p:sp>
          <p:nvSpPr>
            <p:cNvPr name="Freeform 5" id="5"/>
            <p:cNvSpPr/>
            <p:nvPr/>
          </p:nvSpPr>
          <p:spPr>
            <a:xfrm flipH="false" flipV="false" rot="0">
              <a:off x="0" y="0"/>
              <a:ext cx="2251432" cy="3170354"/>
            </a:xfrm>
            <a:custGeom>
              <a:avLst/>
              <a:gdLst/>
              <a:ahLst/>
              <a:cxnLst/>
              <a:rect r="r" b="b" t="t" l="l"/>
              <a:pathLst>
                <a:path h="3170354" w="2251432">
                  <a:moveTo>
                    <a:pt x="0" y="0"/>
                  </a:moveTo>
                  <a:lnTo>
                    <a:pt x="2251432" y="0"/>
                  </a:lnTo>
                  <a:lnTo>
                    <a:pt x="2251432" y="3170354"/>
                  </a:lnTo>
                  <a:lnTo>
                    <a:pt x="0" y="3170354"/>
                  </a:lnTo>
                  <a:close/>
                </a:path>
              </a:pathLst>
            </a:custGeom>
            <a:blipFill>
              <a:blip r:embed="rId2"/>
              <a:stretch>
                <a:fillRect l="-1505" t="0" r="-1505"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grpSp>
        <p:nvGrpSpPr>
          <p:cNvPr name="Group 2" id="2"/>
          <p:cNvGrpSpPr/>
          <p:nvPr/>
        </p:nvGrpSpPr>
        <p:grpSpPr>
          <a:xfrm rot="0">
            <a:off x="4437304" y="9767046"/>
            <a:ext cx="7815666" cy="519954"/>
            <a:chOff x="0" y="0"/>
            <a:chExt cx="1349005" cy="89746"/>
          </a:xfrm>
        </p:grpSpPr>
        <p:sp>
          <p:nvSpPr>
            <p:cNvPr name="Freeform 3" id="3"/>
            <p:cNvSpPr/>
            <p:nvPr/>
          </p:nvSpPr>
          <p:spPr>
            <a:xfrm flipH="false" flipV="false" rot="0">
              <a:off x="0" y="0"/>
              <a:ext cx="1349005" cy="89746"/>
            </a:xfrm>
            <a:custGeom>
              <a:avLst/>
              <a:gdLst/>
              <a:ahLst/>
              <a:cxnLst/>
              <a:rect r="r" b="b" t="t" l="l"/>
              <a:pathLst>
                <a:path h="89746" w="1349005">
                  <a:moveTo>
                    <a:pt x="44873" y="0"/>
                  </a:moveTo>
                  <a:lnTo>
                    <a:pt x="1304133" y="0"/>
                  </a:lnTo>
                  <a:cubicBezTo>
                    <a:pt x="1316034" y="0"/>
                    <a:pt x="1327447" y="4728"/>
                    <a:pt x="1335862" y="13143"/>
                  </a:cubicBezTo>
                  <a:cubicBezTo>
                    <a:pt x="1344278" y="21558"/>
                    <a:pt x="1349005" y="32972"/>
                    <a:pt x="1349005" y="44873"/>
                  </a:cubicBezTo>
                  <a:lnTo>
                    <a:pt x="1349005" y="44873"/>
                  </a:lnTo>
                  <a:cubicBezTo>
                    <a:pt x="1349005" y="69655"/>
                    <a:pt x="1328915" y="89746"/>
                    <a:pt x="1304133" y="89746"/>
                  </a:cubicBezTo>
                  <a:lnTo>
                    <a:pt x="44873" y="89746"/>
                  </a:lnTo>
                  <a:cubicBezTo>
                    <a:pt x="32972" y="89746"/>
                    <a:pt x="21558" y="85018"/>
                    <a:pt x="13143" y="76603"/>
                  </a:cubicBezTo>
                  <a:cubicBezTo>
                    <a:pt x="4728" y="68187"/>
                    <a:pt x="0" y="56774"/>
                    <a:pt x="0" y="44873"/>
                  </a:cubicBezTo>
                  <a:lnTo>
                    <a:pt x="0" y="44873"/>
                  </a:lnTo>
                  <a:cubicBezTo>
                    <a:pt x="0" y="32972"/>
                    <a:pt x="4728" y="21558"/>
                    <a:pt x="13143" y="13143"/>
                  </a:cubicBezTo>
                  <a:cubicBezTo>
                    <a:pt x="21558" y="4728"/>
                    <a:pt x="32972" y="0"/>
                    <a:pt x="44873" y="0"/>
                  </a:cubicBezTo>
                  <a:close/>
                </a:path>
              </a:pathLst>
            </a:custGeom>
            <a:solidFill>
              <a:srgbClr val="233F25"/>
            </a:solidFill>
            <a:ln cap="rnd">
              <a:noFill/>
              <a:prstDash val="solid"/>
              <a:round/>
            </a:ln>
          </p:spPr>
        </p:sp>
        <p:sp>
          <p:nvSpPr>
            <p:cNvPr name="TextBox 4" id="4"/>
            <p:cNvSpPr txBox="true"/>
            <p:nvPr/>
          </p:nvSpPr>
          <p:spPr>
            <a:xfrm>
              <a:off x="0" y="-47625"/>
              <a:ext cx="1349005" cy="137371"/>
            </a:xfrm>
            <a:prstGeom prst="rect">
              <a:avLst/>
            </a:prstGeom>
          </p:spPr>
          <p:txBody>
            <a:bodyPr anchor="ctr" rtlCol="false" tIns="50800" lIns="50800" bIns="50800" rIns="50800"/>
            <a:lstStyle/>
            <a:p>
              <a:pPr algn="ctr">
                <a:lnSpc>
                  <a:spcPts val="2538"/>
                </a:lnSpc>
              </a:pPr>
              <a:r>
                <a:rPr lang="en-US" b="true" sz="1813">
                  <a:solidFill>
                    <a:srgbClr val="F4ECE3"/>
                  </a:solidFill>
                  <a:latin typeface="Poppins Bold"/>
                  <a:ea typeface="Poppins Bold"/>
                  <a:cs typeface="Poppins Bold"/>
                  <a:sym typeface="Poppins Bold"/>
                </a:rPr>
                <a:t>Local • Time-sensitive • Coordinated</a:t>
              </a:r>
            </a:p>
          </p:txBody>
        </p:sp>
      </p:grpSp>
      <p:sp>
        <p:nvSpPr>
          <p:cNvPr name="TextBox 5" id="5"/>
          <p:cNvSpPr txBox="true"/>
          <p:nvPr/>
        </p:nvSpPr>
        <p:spPr>
          <a:xfrm rot="0">
            <a:off x="442726" y="1076325"/>
            <a:ext cx="6722527" cy="8368665"/>
          </a:xfrm>
          <a:prstGeom prst="rect">
            <a:avLst/>
          </a:prstGeom>
        </p:spPr>
        <p:txBody>
          <a:bodyPr anchor="t" rtlCol="false" tIns="0" lIns="0" bIns="0" rIns="0">
            <a:spAutoFit/>
          </a:bodyPr>
          <a:lstStyle/>
          <a:p>
            <a:pPr algn="l">
              <a:lnSpc>
                <a:spcPts val="2879"/>
              </a:lnSpc>
            </a:pPr>
            <a:r>
              <a:rPr lang="en-US" sz="3000" spc="-147" b="true">
                <a:solidFill>
                  <a:srgbClr val="FF914D"/>
                </a:solidFill>
                <a:latin typeface="Poppins Bold"/>
                <a:ea typeface="Poppins Bold"/>
                <a:cs typeface="Poppins Bold"/>
                <a:sym typeface="Poppins Bold"/>
              </a:rPr>
              <a:t>01</a:t>
            </a:r>
          </a:p>
          <a:p>
            <a:pPr algn="l">
              <a:lnSpc>
                <a:spcPts val="2879"/>
              </a:lnSpc>
            </a:pPr>
            <a:r>
              <a:rPr lang="en-US" sz="3000" spc="-147" b="true">
                <a:solidFill>
                  <a:srgbClr val="FF914D"/>
                </a:solidFill>
                <a:latin typeface="Poppins Bold"/>
                <a:ea typeface="Poppins Bold"/>
                <a:cs typeface="Poppins Bold"/>
                <a:sym typeface="Poppins Bold"/>
              </a:rPr>
              <a:t>LIST</a:t>
            </a:r>
          </a:p>
          <a:p>
            <a:pPr algn="l">
              <a:lnSpc>
                <a:spcPts val="2879"/>
              </a:lnSpc>
            </a:pPr>
            <a:r>
              <a:rPr lang="en-US" sz="3000" i="true" spc="-147">
                <a:solidFill>
                  <a:srgbClr val="FF914D"/>
                </a:solidFill>
                <a:latin typeface="Poppins Italics"/>
                <a:ea typeface="Poppins Italics"/>
                <a:cs typeface="Poppins Italics"/>
                <a:sym typeface="Poppins Italics"/>
              </a:rPr>
              <a:t>Vendor posts surplus</a:t>
            </a:r>
          </a:p>
          <a:p>
            <a:pPr algn="l">
              <a:lnSpc>
                <a:spcPts val="2879"/>
              </a:lnSpc>
            </a:pPr>
          </a:p>
          <a:p>
            <a:pPr algn="l">
              <a:lnSpc>
                <a:spcPts val="2879"/>
              </a:lnSpc>
            </a:pPr>
            <a:r>
              <a:rPr lang="en-US" sz="3000" spc="-147" b="true">
                <a:solidFill>
                  <a:srgbClr val="FF914D"/>
                </a:solidFill>
                <a:latin typeface="Poppins Bold"/>
                <a:ea typeface="Poppins Bold"/>
                <a:cs typeface="Poppins Bold"/>
                <a:sym typeface="Poppins Bold"/>
              </a:rPr>
              <a:t>→</a:t>
            </a:r>
          </a:p>
          <a:p>
            <a:pPr algn="l">
              <a:lnSpc>
                <a:spcPts val="2879"/>
              </a:lnSpc>
            </a:pPr>
            <a:r>
              <a:rPr lang="en-US" sz="3000" spc="-147" b="true">
                <a:solidFill>
                  <a:srgbClr val="FF914D"/>
                </a:solidFill>
                <a:latin typeface="Poppins Bold"/>
                <a:ea typeface="Poppins Bold"/>
                <a:cs typeface="Poppins Bold"/>
                <a:sym typeface="Poppins Bold"/>
              </a:rPr>
              <a:t>02</a:t>
            </a:r>
          </a:p>
          <a:p>
            <a:pPr algn="l">
              <a:lnSpc>
                <a:spcPts val="2879"/>
              </a:lnSpc>
            </a:pPr>
            <a:r>
              <a:rPr lang="en-US" sz="3000" spc="-147" b="true">
                <a:solidFill>
                  <a:srgbClr val="FF914D"/>
                </a:solidFill>
                <a:latin typeface="Poppins Bold"/>
                <a:ea typeface="Poppins Bold"/>
                <a:cs typeface="Poppins Bold"/>
                <a:sym typeface="Poppins Bold"/>
              </a:rPr>
              <a:t>MATCH</a:t>
            </a:r>
          </a:p>
          <a:p>
            <a:pPr algn="l">
              <a:lnSpc>
                <a:spcPts val="2879"/>
              </a:lnSpc>
            </a:pPr>
            <a:r>
              <a:rPr lang="en-US" sz="3000" i="true" spc="-147">
                <a:solidFill>
                  <a:srgbClr val="FF914D"/>
                </a:solidFill>
                <a:latin typeface="Poppins Italics"/>
                <a:ea typeface="Poppins Italics"/>
                <a:cs typeface="Poppins Italics"/>
                <a:sym typeface="Poppins Italics"/>
              </a:rPr>
              <a:t>Suitable recipient identified</a:t>
            </a:r>
          </a:p>
          <a:p>
            <a:pPr algn="l">
              <a:lnSpc>
                <a:spcPts val="2879"/>
              </a:lnSpc>
            </a:pPr>
          </a:p>
          <a:p>
            <a:pPr algn="l">
              <a:lnSpc>
                <a:spcPts val="2879"/>
              </a:lnSpc>
            </a:pPr>
            <a:r>
              <a:rPr lang="en-US" sz="3000" spc="-147" b="true">
                <a:solidFill>
                  <a:srgbClr val="FF914D"/>
                </a:solidFill>
                <a:latin typeface="Poppins Bold"/>
                <a:ea typeface="Poppins Bold"/>
                <a:cs typeface="Poppins Bold"/>
                <a:sym typeface="Poppins Bold"/>
              </a:rPr>
              <a:t>→</a:t>
            </a:r>
          </a:p>
          <a:p>
            <a:pPr algn="l">
              <a:lnSpc>
                <a:spcPts val="2879"/>
              </a:lnSpc>
            </a:pPr>
            <a:r>
              <a:rPr lang="en-US" sz="3000" spc="-147" b="true">
                <a:solidFill>
                  <a:srgbClr val="FF914D"/>
                </a:solidFill>
                <a:latin typeface="Poppins Bold"/>
                <a:ea typeface="Poppins Bold"/>
                <a:cs typeface="Poppins Bold"/>
                <a:sym typeface="Poppins Bold"/>
              </a:rPr>
              <a:t>03</a:t>
            </a:r>
          </a:p>
          <a:p>
            <a:pPr algn="l">
              <a:lnSpc>
                <a:spcPts val="2879"/>
              </a:lnSpc>
            </a:pPr>
            <a:r>
              <a:rPr lang="en-US" sz="3000" spc="-147" b="true">
                <a:solidFill>
                  <a:srgbClr val="FF914D"/>
                </a:solidFill>
                <a:latin typeface="Poppins Bold"/>
                <a:ea typeface="Poppins Bold"/>
                <a:cs typeface="Poppins Bold"/>
                <a:sym typeface="Poppins Bold"/>
              </a:rPr>
              <a:t>ALERT</a:t>
            </a:r>
          </a:p>
          <a:p>
            <a:pPr algn="l">
              <a:lnSpc>
                <a:spcPts val="2879"/>
              </a:lnSpc>
            </a:pPr>
            <a:r>
              <a:rPr lang="en-US" sz="3000" i="true" spc="-147">
                <a:solidFill>
                  <a:srgbClr val="FF914D"/>
                </a:solidFill>
                <a:latin typeface="Poppins Italics"/>
                <a:ea typeface="Poppins Italics"/>
                <a:cs typeface="Poppins Italics"/>
                <a:sym typeface="Poppins Italics"/>
              </a:rPr>
              <a:t>Recipient notified</a:t>
            </a:r>
          </a:p>
          <a:p>
            <a:pPr algn="l">
              <a:lnSpc>
                <a:spcPts val="2879"/>
              </a:lnSpc>
            </a:pPr>
          </a:p>
          <a:p>
            <a:pPr algn="l">
              <a:lnSpc>
                <a:spcPts val="2879"/>
              </a:lnSpc>
            </a:pPr>
            <a:r>
              <a:rPr lang="en-US" sz="3000" spc="-147" b="true">
                <a:solidFill>
                  <a:srgbClr val="FF914D"/>
                </a:solidFill>
                <a:latin typeface="Poppins Bold"/>
                <a:ea typeface="Poppins Bold"/>
                <a:cs typeface="Poppins Bold"/>
                <a:sym typeface="Poppins Bold"/>
              </a:rPr>
              <a:t>→</a:t>
            </a:r>
          </a:p>
          <a:p>
            <a:pPr algn="l">
              <a:lnSpc>
                <a:spcPts val="2879"/>
              </a:lnSpc>
            </a:pPr>
            <a:r>
              <a:rPr lang="en-US" sz="3000" spc="-147" b="true">
                <a:solidFill>
                  <a:srgbClr val="FF914D"/>
                </a:solidFill>
                <a:latin typeface="Poppins Bold"/>
                <a:ea typeface="Poppins Bold"/>
                <a:cs typeface="Poppins Bold"/>
                <a:sym typeface="Poppins Bold"/>
              </a:rPr>
              <a:t>04</a:t>
            </a:r>
          </a:p>
          <a:p>
            <a:pPr algn="l">
              <a:lnSpc>
                <a:spcPts val="2879"/>
              </a:lnSpc>
            </a:pPr>
            <a:r>
              <a:rPr lang="en-US" sz="3000" spc="-147" b="true">
                <a:solidFill>
                  <a:srgbClr val="FF914D"/>
                </a:solidFill>
                <a:latin typeface="Poppins Bold"/>
                <a:ea typeface="Poppins Bold"/>
                <a:cs typeface="Poppins Bold"/>
                <a:sym typeface="Poppins Bold"/>
              </a:rPr>
              <a:t>COLLECT</a:t>
            </a:r>
          </a:p>
          <a:p>
            <a:pPr algn="l">
              <a:lnSpc>
                <a:spcPts val="2879"/>
              </a:lnSpc>
            </a:pPr>
            <a:r>
              <a:rPr lang="en-US" sz="3000" i="true" spc="-147">
                <a:solidFill>
                  <a:srgbClr val="FF914D"/>
                </a:solidFill>
                <a:latin typeface="Poppins Italics"/>
                <a:ea typeface="Poppins Italics"/>
                <a:cs typeface="Poppins Italics"/>
                <a:sym typeface="Poppins Italics"/>
              </a:rPr>
              <a:t>Pickup coordinated</a:t>
            </a:r>
          </a:p>
          <a:p>
            <a:pPr algn="l">
              <a:lnSpc>
                <a:spcPts val="2879"/>
              </a:lnSpc>
            </a:pPr>
          </a:p>
          <a:p>
            <a:pPr algn="l">
              <a:lnSpc>
                <a:spcPts val="2879"/>
              </a:lnSpc>
            </a:pPr>
            <a:r>
              <a:rPr lang="en-US" sz="3000" spc="-147" b="true">
                <a:solidFill>
                  <a:srgbClr val="FF914D"/>
                </a:solidFill>
                <a:latin typeface="Poppins Bold"/>
                <a:ea typeface="Poppins Bold"/>
                <a:cs typeface="Poppins Bold"/>
                <a:sym typeface="Poppins Bold"/>
              </a:rPr>
              <a:t>→</a:t>
            </a:r>
          </a:p>
          <a:p>
            <a:pPr algn="l">
              <a:lnSpc>
                <a:spcPts val="2879"/>
              </a:lnSpc>
            </a:pPr>
            <a:r>
              <a:rPr lang="en-US" sz="3000" spc="-147" b="true">
                <a:solidFill>
                  <a:srgbClr val="FF914D"/>
                </a:solidFill>
                <a:latin typeface="Poppins Bold"/>
                <a:ea typeface="Poppins Bold"/>
                <a:cs typeface="Poppins Bold"/>
                <a:sym typeface="Poppins Bold"/>
              </a:rPr>
              <a:t>05</a:t>
            </a:r>
          </a:p>
          <a:p>
            <a:pPr algn="l">
              <a:lnSpc>
                <a:spcPts val="2879"/>
              </a:lnSpc>
            </a:pPr>
            <a:r>
              <a:rPr lang="en-US" sz="3000" spc="-147" b="true">
                <a:solidFill>
                  <a:srgbClr val="FF914D"/>
                </a:solidFill>
                <a:latin typeface="Poppins Bold"/>
                <a:ea typeface="Poppins Bold"/>
                <a:cs typeface="Poppins Bold"/>
                <a:sym typeface="Poppins Bold"/>
              </a:rPr>
              <a:t>REDISTRIBUTE</a:t>
            </a:r>
          </a:p>
          <a:p>
            <a:pPr algn="l">
              <a:lnSpc>
                <a:spcPts val="2879"/>
              </a:lnSpc>
            </a:pPr>
            <a:r>
              <a:rPr lang="en-US" sz="3000" i="true" spc="-147">
                <a:solidFill>
                  <a:srgbClr val="FF914D"/>
                </a:solidFill>
                <a:latin typeface="Poppins Italics"/>
                <a:ea typeface="Poppins Italics"/>
                <a:cs typeface="Poppins Italics"/>
                <a:sym typeface="Poppins Italics"/>
              </a:rPr>
              <a:t>Food reaches the community</a:t>
            </a:r>
          </a:p>
        </p:txBody>
      </p:sp>
      <p:grpSp>
        <p:nvGrpSpPr>
          <p:cNvPr name="Group 6" id="6"/>
          <p:cNvGrpSpPr/>
          <p:nvPr/>
        </p:nvGrpSpPr>
        <p:grpSpPr>
          <a:xfrm rot="0">
            <a:off x="13051833" y="1101090"/>
            <a:ext cx="5115114" cy="8628266"/>
            <a:chOff x="0" y="0"/>
            <a:chExt cx="3211833" cy="5417777"/>
          </a:xfrm>
        </p:grpSpPr>
        <p:sp>
          <p:nvSpPr>
            <p:cNvPr name="Freeform 7" id="7"/>
            <p:cNvSpPr/>
            <p:nvPr/>
          </p:nvSpPr>
          <p:spPr>
            <a:xfrm flipH="false" flipV="false" rot="0">
              <a:off x="0" y="0"/>
              <a:ext cx="3211833" cy="5417777"/>
            </a:xfrm>
            <a:custGeom>
              <a:avLst/>
              <a:gdLst/>
              <a:ahLst/>
              <a:cxnLst/>
              <a:rect r="r" b="b" t="t" l="l"/>
              <a:pathLst>
                <a:path h="5417777" w="3211833">
                  <a:moveTo>
                    <a:pt x="0" y="0"/>
                  </a:moveTo>
                  <a:lnTo>
                    <a:pt x="3211833" y="0"/>
                  </a:lnTo>
                  <a:lnTo>
                    <a:pt x="3211833" y="5417777"/>
                  </a:lnTo>
                  <a:lnTo>
                    <a:pt x="0" y="5417777"/>
                  </a:lnTo>
                  <a:close/>
                </a:path>
              </a:pathLst>
            </a:custGeom>
            <a:blipFill>
              <a:blip r:embed="rId2"/>
              <a:stretch>
                <a:fillRect l="0" t="-7486" r="0" b="-7486"/>
              </a:stretch>
            </a:blipFill>
          </p:spPr>
        </p:sp>
      </p:grpSp>
      <p:sp>
        <p:nvSpPr>
          <p:cNvPr name="TextBox 8" id="8"/>
          <p:cNvSpPr txBox="true"/>
          <p:nvPr/>
        </p:nvSpPr>
        <p:spPr>
          <a:xfrm rot="0">
            <a:off x="5062674" y="2310391"/>
            <a:ext cx="8162651" cy="830580"/>
          </a:xfrm>
          <a:prstGeom prst="rect">
            <a:avLst/>
          </a:prstGeom>
        </p:spPr>
        <p:txBody>
          <a:bodyPr anchor="t" rtlCol="false" tIns="0" lIns="0" bIns="0" rIns="0">
            <a:spAutoFit/>
          </a:bodyPr>
          <a:lstStyle/>
          <a:p>
            <a:pPr algn="l">
              <a:lnSpc>
                <a:spcPts val="5759"/>
              </a:lnSpc>
            </a:pPr>
            <a:r>
              <a:rPr lang="en-US" sz="6000" spc="-294" b="true">
                <a:solidFill>
                  <a:srgbClr val="233F25"/>
                </a:solidFill>
                <a:latin typeface="Poppins Bold"/>
                <a:ea typeface="Poppins Bold"/>
                <a:cs typeface="Poppins Bold"/>
                <a:sym typeface="Poppins Bold"/>
              </a:rPr>
              <a:t>HOW BAKI WORKS</a:t>
            </a:r>
          </a:p>
        </p:txBody>
      </p:sp>
      <p:sp>
        <p:nvSpPr>
          <p:cNvPr name="TextBox 9" id="9"/>
          <p:cNvSpPr txBox="true"/>
          <p:nvPr/>
        </p:nvSpPr>
        <p:spPr>
          <a:xfrm rot="0">
            <a:off x="4935141" y="4350646"/>
            <a:ext cx="6819991" cy="4250055"/>
          </a:xfrm>
          <a:prstGeom prst="rect">
            <a:avLst/>
          </a:prstGeom>
        </p:spPr>
        <p:txBody>
          <a:bodyPr anchor="t" rtlCol="false" tIns="0" lIns="0" bIns="0" rIns="0">
            <a:spAutoFit/>
          </a:bodyPr>
          <a:lstStyle/>
          <a:p>
            <a:pPr algn="l">
              <a:lnSpc>
                <a:spcPts val="3360"/>
              </a:lnSpc>
            </a:pPr>
            <a:r>
              <a:rPr lang="en-US" sz="3500" i="true" spc="-171">
                <a:solidFill>
                  <a:srgbClr val="233F25"/>
                </a:solidFill>
                <a:latin typeface="Poppins Italics"/>
                <a:ea typeface="Poppins Italics"/>
                <a:cs typeface="Poppins Italics"/>
                <a:sym typeface="Poppins Italics"/>
              </a:rPr>
              <a:t>Baki connects food vendors with nearby NGOs, pantries, and community members through a simple, time-sensitive redistribution process. Vendors list their surplus, Baki helps identify a suitable recipient, and the food is then collected and redistributed before it spoils.</a:t>
            </a:r>
          </a:p>
          <a:p>
            <a:pPr algn="l">
              <a:lnSpc>
                <a:spcPts val="336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sp>
        <p:nvSpPr>
          <p:cNvPr name="TextBox 2" id="2"/>
          <p:cNvSpPr txBox="true"/>
          <p:nvPr/>
        </p:nvSpPr>
        <p:spPr>
          <a:xfrm rot="0">
            <a:off x="804600" y="1095375"/>
            <a:ext cx="7899833" cy="6717919"/>
          </a:xfrm>
          <a:prstGeom prst="rect">
            <a:avLst/>
          </a:prstGeom>
        </p:spPr>
        <p:txBody>
          <a:bodyPr anchor="t" rtlCol="false" tIns="0" lIns="0" bIns="0" rIns="0">
            <a:spAutoFit/>
          </a:bodyPr>
          <a:lstStyle/>
          <a:p>
            <a:pPr algn="l">
              <a:lnSpc>
                <a:spcPts val="4418"/>
              </a:lnSpc>
            </a:pPr>
            <a:r>
              <a:rPr lang="en-US" sz="4700" spc="-230" b="true">
                <a:solidFill>
                  <a:srgbClr val="FF914D"/>
                </a:solidFill>
                <a:latin typeface="Poppins Bold"/>
                <a:ea typeface="Poppins Bold"/>
                <a:cs typeface="Poppins Bold"/>
                <a:sym typeface="Poppins Bold"/>
              </a:rPr>
              <a:t>🍲 DONATE</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Vendor</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Pantry / NGO</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Community</a:t>
            </a:r>
          </a:p>
          <a:p>
            <a:pPr algn="l">
              <a:lnSpc>
                <a:spcPts val="4418"/>
              </a:lnSpc>
            </a:pPr>
          </a:p>
        </p:txBody>
      </p:sp>
      <p:sp>
        <p:nvSpPr>
          <p:cNvPr name="TextBox 3" id="3"/>
          <p:cNvSpPr txBox="true"/>
          <p:nvPr/>
        </p:nvSpPr>
        <p:spPr>
          <a:xfrm rot="0">
            <a:off x="804600" y="7340219"/>
            <a:ext cx="6197071" cy="879475"/>
          </a:xfrm>
          <a:prstGeom prst="rect">
            <a:avLst/>
          </a:prstGeom>
        </p:spPr>
        <p:txBody>
          <a:bodyPr anchor="t" rtlCol="false" tIns="0" lIns="0" bIns="0" rIns="0">
            <a:spAutoFit/>
          </a:bodyPr>
          <a:lstStyle/>
          <a:p>
            <a:pPr algn="l">
              <a:lnSpc>
                <a:spcPts val="3499"/>
              </a:lnSpc>
            </a:pPr>
            <a:r>
              <a:rPr lang="en-US" sz="2499" i="true">
                <a:solidFill>
                  <a:srgbClr val="FF914D"/>
                </a:solidFill>
                <a:latin typeface="Poppins Italics"/>
                <a:ea typeface="Poppins Italics"/>
                <a:cs typeface="Poppins Italics"/>
                <a:sym typeface="Poppins Italics"/>
              </a:rPr>
              <a:t>For surplus intended for charitable redistribution.</a:t>
            </a:r>
          </a:p>
        </p:txBody>
      </p:sp>
      <p:sp>
        <p:nvSpPr>
          <p:cNvPr name="TextBox 4" id="4"/>
          <p:cNvSpPr txBox="true"/>
          <p:nvPr/>
        </p:nvSpPr>
        <p:spPr>
          <a:xfrm rot="0">
            <a:off x="11642730" y="1095375"/>
            <a:ext cx="6410070" cy="7270369"/>
          </a:xfrm>
          <a:prstGeom prst="rect">
            <a:avLst/>
          </a:prstGeom>
        </p:spPr>
        <p:txBody>
          <a:bodyPr anchor="t" rtlCol="false" tIns="0" lIns="0" bIns="0" rIns="0">
            <a:spAutoFit/>
          </a:bodyPr>
          <a:lstStyle/>
          <a:p>
            <a:pPr algn="l">
              <a:lnSpc>
                <a:spcPts val="4418"/>
              </a:lnSpc>
            </a:pPr>
            <a:r>
              <a:rPr lang="en-US" sz="4700" spc="-230" b="true">
                <a:solidFill>
                  <a:srgbClr val="FF914D"/>
                </a:solidFill>
                <a:latin typeface="Poppins Bold"/>
                <a:ea typeface="Poppins Bold"/>
                <a:cs typeface="Poppins Bold"/>
                <a:sym typeface="Poppins Bold"/>
              </a:rPr>
              <a:t>🛒 SELL AFFORDABLY</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 Vendor</a:t>
            </a:r>
          </a:p>
          <a:p>
            <a:pPr algn="l">
              <a:lnSpc>
                <a:spcPts val="4418"/>
              </a:lnSpc>
            </a:pPr>
          </a:p>
          <a:p>
            <a:pPr algn="l">
              <a:lnSpc>
                <a:spcPts val="4418"/>
              </a:lnSpc>
            </a:pPr>
            <a:r>
              <a:rPr lang="en-US" b="true" sz="4700" spc="-230">
                <a:solidFill>
                  <a:srgbClr val="FF914D"/>
                </a:solidFill>
                <a:latin typeface="Poppins Bold"/>
                <a:ea typeface="Poppins Bold"/>
                <a:cs typeface="Poppins Bold"/>
                <a:sym typeface="Poppins Bold"/>
              </a:rPr>
              <a:t>↓</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 Affordable listing</a:t>
            </a:r>
          </a:p>
          <a:p>
            <a:pPr algn="l">
              <a:lnSpc>
                <a:spcPts val="4418"/>
              </a:lnSpc>
            </a:pPr>
          </a:p>
          <a:p>
            <a:pPr algn="l">
              <a:lnSpc>
                <a:spcPts val="4418"/>
              </a:lnSpc>
            </a:pPr>
            <a:r>
              <a:rPr lang="en-US" b="true" sz="4700" spc="-230">
                <a:solidFill>
                  <a:srgbClr val="FF914D"/>
                </a:solidFill>
                <a:latin typeface="Poppins Bold"/>
                <a:ea typeface="Poppins Bold"/>
                <a:cs typeface="Poppins Bold"/>
                <a:sym typeface="Poppins Bold"/>
              </a:rPr>
              <a:t>↓</a:t>
            </a:r>
          </a:p>
          <a:p>
            <a:pPr algn="l">
              <a:lnSpc>
                <a:spcPts val="4418"/>
              </a:lnSpc>
            </a:pPr>
          </a:p>
          <a:p>
            <a:pPr algn="l">
              <a:lnSpc>
                <a:spcPts val="4418"/>
              </a:lnSpc>
            </a:pPr>
            <a:r>
              <a:rPr lang="en-US" sz="4700" spc="-230" b="true">
                <a:solidFill>
                  <a:srgbClr val="FF914D"/>
                </a:solidFill>
                <a:latin typeface="Poppins Bold"/>
                <a:ea typeface="Poppins Bold"/>
                <a:cs typeface="Poppins Bold"/>
                <a:sym typeface="Poppins Bold"/>
              </a:rPr>
              <a:t>👥 Community </a:t>
            </a:r>
          </a:p>
          <a:p>
            <a:pPr algn="l">
              <a:lnSpc>
                <a:spcPts val="4418"/>
              </a:lnSpc>
            </a:pPr>
          </a:p>
          <a:p>
            <a:pPr algn="l">
              <a:lnSpc>
                <a:spcPts val="4418"/>
              </a:lnSpc>
            </a:pPr>
          </a:p>
        </p:txBody>
      </p:sp>
      <p:grpSp>
        <p:nvGrpSpPr>
          <p:cNvPr name="Group 5" id="5"/>
          <p:cNvGrpSpPr/>
          <p:nvPr/>
        </p:nvGrpSpPr>
        <p:grpSpPr>
          <a:xfrm rot="0">
            <a:off x="5078047" y="2406238"/>
            <a:ext cx="6048165" cy="4029518"/>
            <a:chOff x="0" y="0"/>
            <a:chExt cx="2251432" cy="1499990"/>
          </a:xfrm>
        </p:grpSpPr>
        <p:sp>
          <p:nvSpPr>
            <p:cNvPr name="Freeform 6" id="6"/>
            <p:cNvSpPr/>
            <p:nvPr/>
          </p:nvSpPr>
          <p:spPr>
            <a:xfrm flipH="false" flipV="false" rot="0">
              <a:off x="0" y="0"/>
              <a:ext cx="2251432" cy="1499990"/>
            </a:xfrm>
            <a:custGeom>
              <a:avLst/>
              <a:gdLst/>
              <a:ahLst/>
              <a:cxnLst/>
              <a:rect r="r" b="b" t="t" l="l"/>
              <a:pathLst>
                <a:path h="1499990" w="2251432">
                  <a:moveTo>
                    <a:pt x="0" y="0"/>
                  </a:moveTo>
                  <a:lnTo>
                    <a:pt x="2251432" y="0"/>
                  </a:lnTo>
                  <a:lnTo>
                    <a:pt x="2251432" y="1499990"/>
                  </a:lnTo>
                  <a:lnTo>
                    <a:pt x="0" y="1499990"/>
                  </a:lnTo>
                  <a:close/>
                </a:path>
              </a:pathLst>
            </a:custGeom>
            <a:blipFill>
              <a:blip r:embed="rId2"/>
              <a:stretch>
                <a:fillRect l="0" t="-86015" r="0" b="-19163"/>
              </a:stretch>
            </a:blipFill>
          </p:spPr>
        </p:sp>
      </p:grpSp>
      <p:sp>
        <p:nvSpPr>
          <p:cNvPr name="TextBox 7" id="7"/>
          <p:cNvSpPr txBox="true"/>
          <p:nvPr/>
        </p:nvSpPr>
        <p:spPr>
          <a:xfrm rot="0">
            <a:off x="11855730" y="7340219"/>
            <a:ext cx="6197071" cy="879475"/>
          </a:xfrm>
          <a:prstGeom prst="rect">
            <a:avLst/>
          </a:prstGeom>
        </p:spPr>
        <p:txBody>
          <a:bodyPr anchor="t" rtlCol="false" tIns="0" lIns="0" bIns="0" rIns="0">
            <a:spAutoFit/>
          </a:bodyPr>
          <a:lstStyle/>
          <a:p>
            <a:pPr algn="l">
              <a:lnSpc>
                <a:spcPts val="3499"/>
              </a:lnSpc>
            </a:pPr>
            <a:r>
              <a:rPr lang="en-US" sz="2499" i="true">
                <a:solidFill>
                  <a:srgbClr val="FF914D"/>
                </a:solidFill>
                <a:latin typeface="Poppins Italics"/>
                <a:ea typeface="Poppins Italics"/>
                <a:cs typeface="Poppins Italics"/>
                <a:sym typeface="Poppins Italics"/>
              </a:rPr>
              <a:t>For surplus intended for charitable redistribution.</a:t>
            </a:r>
          </a:p>
        </p:txBody>
      </p:sp>
      <p:sp>
        <p:nvSpPr>
          <p:cNvPr name="TextBox 8" id="8"/>
          <p:cNvSpPr txBox="true"/>
          <p:nvPr/>
        </p:nvSpPr>
        <p:spPr>
          <a:xfrm rot="0">
            <a:off x="4754517" y="8578850"/>
            <a:ext cx="10314640" cy="1254125"/>
          </a:xfrm>
          <a:prstGeom prst="rect">
            <a:avLst/>
          </a:prstGeom>
        </p:spPr>
        <p:txBody>
          <a:bodyPr anchor="t" rtlCol="false" tIns="0" lIns="0" bIns="0" rIns="0">
            <a:spAutoFit/>
          </a:bodyPr>
          <a:lstStyle/>
          <a:p>
            <a:pPr algn="l">
              <a:lnSpc>
                <a:spcPts val="4900"/>
              </a:lnSpc>
            </a:pPr>
            <a:r>
              <a:rPr lang="en-US" sz="3500" i="true">
                <a:solidFill>
                  <a:srgbClr val="233F25"/>
                </a:solidFill>
                <a:latin typeface="Poppins Italics"/>
                <a:ea typeface="Poppins Italics"/>
                <a:cs typeface="Poppins Italics"/>
                <a:sym typeface="Poppins Italics"/>
              </a:rPr>
              <a:t>Different pathways. Same goal: prevent usable food from becoming waste.</a:t>
            </a:r>
          </a:p>
        </p:txBody>
      </p:sp>
      <p:sp>
        <p:nvSpPr>
          <p:cNvPr name="TextBox 9" id="9"/>
          <p:cNvSpPr txBox="true"/>
          <p:nvPr/>
        </p:nvSpPr>
        <p:spPr>
          <a:xfrm rot="0">
            <a:off x="1434860" y="127000"/>
            <a:ext cx="14539147" cy="901700"/>
          </a:xfrm>
          <a:prstGeom prst="rect">
            <a:avLst/>
          </a:prstGeom>
        </p:spPr>
        <p:txBody>
          <a:bodyPr anchor="t" rtlCol="false" tIns="0" lIns="0" bIns="0" rIns="0">
            <a:spAutoFit/>
          </a:bodyPr>
          <a:lstStyle/>
          <a:p>
            <a:pPr algn="l">
              <a:lnSpc>
                <a:spcPts val="7000"/>
              </a:lnSpc>
            </a:pPr>
            <a:r>
              <a:rPr lang="en-US" b="true" sz="5000">
                <a:solidFill>
                  <a:srgbClr val="233F25"/>
                </a:solidFill>
                <a:latin typeface="Poppins Bold"/>
                <a:ea typeface="Poppins Bold"/>
                <a:cs typeface="Poppins Bold"/>
                <a:sym typeface="Poppins Bold"/>
              </a:rPr>
              <a:t>TWO WAYS TO KEEP FOOD IN CIRCULATION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sp>
        <p:nvSpPr>
          <p:cNvPr name="Freeform 2" id="2"/>
          <p:cNvSpPr/>
          <p:nvPr/>
        </p:nvSpPr>
        <p:spPr>
          <a:xfrm flipH="false" flipV="false" rot="0">
            <a:off x="4633533" y="1443103"/>
            <a:ext cx="7069057" cy="7068787"/>
          </a:xfrm>
          <a:custGeom>
            <a:avLst/>
            <a:gdLst/>
            <a:ahLst/>
            <a:cxnLst/>
            <a:rect r="r" b="b" t="t" l="l"/>
            <a:pathLst>
              <a:path h="7068787" w="7069057">
                <a:moveTo>
                  <a:pt x="0" y="0"/>
                </a:moveTo>
                <a:lnTo>
                  <a:pt x="7069057" y="0"/>
                </a:lnTo>
                <a:lnTo>
                  <a:pt x="7069057" y="7068786"/>
                </a:lnTo>
                <a:lnTo>
                  <a:pt x="0" y="7068786"/>
                </a:lnTo>
                <a:lnTo>
                  <a:pt x="0" y="0"/>
                </a:lnTo>
                <a:close/>
              </a:path>
            </a:pathLst>
          </a:custGeom>
          <a:blipFill>
            <a:blip r:embed="rId2"/>
            <a:stretch>
              <a:fillRect l="-4687" t="-5003" r="-4687" b="0"/>
            </a:stretch>
          </a:blipFill>
        </p:spPr>
      </p:sp>
      <p:sp>
        <p:nvSpPr>
          <p:cNvPr name="TextBox 3" id="3"/>
          <p:cNvSpPr txBox="true"/>
          <p:nvPr/>
        </p:nvSpPr>
        <p:spPr>
          <a:xfrm rot="0">
            <a:off x="766799" y="1519303"/>
            <a:ext cx="7401263" cy="3215005"/>
          </a:xfrm>
          <a:prstGeom prst="rect">
            <a:avLst/>
          </a:prstGeom>
        </p:spPr>
        <p:txBody>
          <a:bodyPr anchor="t" rtlCol="false" tIns="0" lIns="0" bIns="0" rIns="0">
            <a:spAutoFit/>
          </a:bodyPr>
          <a:lstStyle/>
          <a:p>
            <a:pPr algn="l">
              <a:lnSpc>
                <a:spcPts val="3559"/>
              </a:lnSpc>
            </a:pPr>
            <a:r>
              <a:rPr lang="en-US" sz="3999" i="true" spc="-195">
                <a:solidFill>
                  <a:srgbClr val="233F25"/>
                </a:solidFill>
                <a:latin typeface="Poppins Italics"/>
                <a:ea typeface="Poppins Italics"/>
                <a:cs typeface="Poppins Italics"/>
                <a:sym typeface="Poppins Italics"/>
              </a:rPr>
              <a:t>🏪 FOOD VENDORS</a:t>
            </a:r>
          </a:p>
          <a:p>
            <a:pPr algn="l">
              <a:lnSpc>
                <a:spcPts val="3559"/>
              </a:lnSpc>
            </a:pPr>
          </a:p>
          <a:p>
            <a:pPr algn="l">
              <a:lnSpc>
                <a:spcPts val="3559"/>
              </a:lnSpc>
            </a:pPr>
            <a:r>
              <a:rPr lang="en-US" sz="3999" i="true" spc="-195">
                <a:solidFill>
                  <a:srgbClr val="233F25"/>
                </a:solidFill>
                <a:latin typeface="Poppins Italics"/>
                <a:ea typeface="Poppins Italics"/>
                <a:cs typeface="Poppins Italics"/>
                <a:sym typeface="Poppins Italics"/>
              </a:rPr>
              <a:t>Need:</a:t>
            </a:r>
          </a:p>
          <a:p>
            <a:pPr algn="l">
              <a:lnSpc>
                <a:spcPts val="3559"/>
              </a:lnSpc>
            </a:pPr>
            <a:r>
              <a:rPr lang="en-US" sz="3999" i="true" spc="-195">
                <a:solidFill>
                  <a:srgbClr val="233F25"/>
                </a:solidFill>
                <a:latin typeface="Poppins Italics"/>
                <a:ea typeface="Poppins Italics"/>
                <a:cs typeface="Poppins Italics"/>
                <a:sym typeface="Poppins Italics"/>
              </a:rPr>
              <a:t>A quick way to move surplus.</a:t>
            </a:r>
          </a:p>
          <a:p>
            <a:pPr algn="l">
              <a:lnSpc>
                <a:spcPts val="3559"/>
              </a:lnSpc>
            </a:pPr>
          </a:p>
          <a:p>
            <a:pPr algn="l">
              <a:lnSpc>
                <a:spcPts val="3559"/>
              </a:lnSpc>
            </a:pPr>
            <a:r>
              <a:rPr lang="en-US" sz="3999" i="true" spc="-195">
                <a:solidFill>
                  <a:srgbClr val="233F25"/>
                </a:solidFill>
                <a:latin typeface="Poppins Italics"/>
                <a:ea typeface="Poppins Italics"/>
                <a:cs typeface="Poppins Italics"/>
                <a:sym typeface="Poppins Italics"/>
              </a:rPr>
              <a:t>Baki:</a:t>
            </a:r>
          </a:p>
          <a:p>
            <a:pPr algn="l">
              <a:lnSpc>
                <a:spcPts val="3559"/>
              </a:lnSpc>
            </a:pPr>
            <a:r>
              <a:rPr lang="en-US" sz="3999" i="true" spc="-195">
                <a:solidFill>
                  <a:srgbClr val="233F25"/>
                </a:solidFill>
                <a:latin typeface="Poppins Italics"/>
                <a:ea typeface="Poppins Italics"/>
                <a:cs typeface="Poppins Italics"/>
                <a:sym typeface="Poppins Italics"/>
              </a:rPr>
              <a:t>Listing + matching.</a:t>
            </a:r>
          </a:p>
        </p:txBody>
      </p:sp>
      <p:sp>
        <p:nvSpPr>
          <p:cNvPr name="TextBox 4" id="4"/>
          <p:cNvSpPr txBox="true"/>
          <p:nvPr/>
        </p:nvSpPr>
        <p:spPr>
          <a:xfrm rot="0">
            <a:off x="11193240" y="2714746"/>
            <a:ext cx="7401263" cy="4110355"/>
          </a:xfrm>
          <a:prstGeom prst="rect">
            <a:avLst/>
          </a:prstGeom>
        </p:spPr>
        <p:txBody>
          <a:bodyPr anchor="t" rtlCol="false" tIns="0" lIns="0" bIns="0" rIns="0">
            <a:spAutoFit/>
          </a:bodyPr>
          <a:lstStyle/>
          <a:p>
            <a:pPr algn="l">
              <a:lnSpc>
                <a:spcPts val="3559"/>
              </a:lnSpc>
            </a:pPr>
            <a:r>
              <a:rPr lang="en-US" sz="3999" i="true" spc="-195">
                <a:solidFill>
                  <a:srgbClr val="233F25"/>
                </a:solidFill>
                <a:latin typeface="Poppins Italics"/>
                <a:ea typeface="Poppins Italics"/>
                <a:cs typeface="Poppins Italics"/>
                <a:sym typeface="Poppins Italics"/>
              </a:rPr>
              <a:t>👥 COMMUNITY</a:t>
            </a:r>
          </a:p>
          <a:p>
            <a:pPr algn="l">
              <a:lnSpc>
                <a:spcPts val="3559"/>
              </a:lnSpc>
            </a:pPr>
          </a:p>
          <a:p>
            <a:pPr algn="l">
              <a:lnSpc>
                <a:spcPts val="3559"/>
              </a:lnSpc>
            </a:pPr>
            <a:r>
              <a:rPr lang="en-US" sz="3999" i="true" spc="-195">
                <a:solidFill>
                  <a:srgbClr val="233F25"/>
                </a:solidFill>
                <a:latin typeface="Poppins Italics"/>
                <a:ea typeface="Poppins Italics"/>
                <a:cs typeface="Poppins Italics"/>
                <a:sym typeface="Poppins Italics"/>
              </a:rPr>
              <a:t>Need:</a:t>
            </a:r>
          </a:p>
          <a:p>
            <a:pPr algn="l">
              <a:lnSpc>
                <a:spcPts val="3559"/>
              </a:lnSpc>
            </a:pPr>
            <a:r>
              <a:rPr lang="en-US" sz="3999" i="true" spc="-195">
                <a:solidFill>
                  <a:srgbClr val="233F25"/>
                </a:solidFill>
                <a:latin typeface="Poppins Italics"/>
                <a:ea typeface="Poppins Italics"/>
                <a:cs typeface="Poppins Italics"/>
                <a:sym typeface="Poppins Italics"/>
              </a:rPr>
              <a:t>Access to free or affordable food.</a:t>
            </a:r>
          </a:p>
          <a:p>
            <a:pPr algn="l">
              <a:lnSpc>
                <a:spcPts val="3559"/>
              </a:lnSpc>
            </a:pPr>
          </a:p>
          <a:p>
            <a:pPr algn="l">
              <a:lnSpc>
                <a:spcPts val="3559"/>
              </a:lnSpc>
            </a:pPr>
            <a:r>
              <a:rPr lang="en-US" sz="3999" i="true" spc="-195">
                <a:solidFill>
                  <a:srgbClr val="233F25"/>
                </a:solidFill>
                <a:latin typeface="Poppins Italics"/>
                <a:ea typeface="Poppins Italics"/>
                <a:cs typeface="Poppins Italics"/>
                <a:sym typeface="Poppins Italics"/>
              </a:rPr>
              <a:t>Baki:</a:t>
            </a:r>
          </a:p>
          <a:p>
            <a:pPr algn="l">
              <a:lnSpc>
                <a:spcPts val="3559"/>
              </a:lnSpc>
            </a:pPr>
            <a:r>
              <a:rPr lang="en-US" sz="3999" i="true" spc="-195">
                <a:solidFill>
                  <a:srgbClr val="233F25"/>
                </a:solidFill>
                <a:latin typeface="Poppins Italics"/>
                <a:ea typeface="Poppins Italics"/>
                <a:cs typeface="Poppins Italics"/>
                <a:sym typeface="Poppins Italics"/>
              </a:rPr>
              <a:t>Discover available surplus.</a:t>
            </a:r>
          </a:p>
          <a:p>
            <a:pPr algn="l">
              <a:lnSpc>
                <a:spcPts val="3559"/>
              </a:lnSpc>
            </a:pPr>
          </a:p>
        </p:txBody>
      </p:sp>
      <p:sp>
        <p:nvSpPr>
          <p:cNvPr name="TextBox 5" id="5"/>
          <p:cNvSpPr txBox="true"/>
          <p:nvPr/>
        </p:nvSpPr>
        <p:spPr>
          <a:xfrm rot="0">
            <a:off x="766799" y="6005951"/>
            <a:ext cx="7401263" cy="4110355"/>
          </a:xfrm>
          <a:prstGeom prst="rect">
            <a:avLst/>
          </a:prstGeom>
        </p:spPr>
        <p:txBody>
          <a:bodyPr anchor="t" rtlCol="false" tIns="0" lIns="0" bIns="0" rIns="0">
            <a:spAutoFit/>
          </a:bodyPr>
          <a:lstStyle/>
          <a:p>
            <a:pPr algn="l">
              <a:lnSpc>
                <a:spcPts val="3559"/>
              </a:lnSpc>
            </a:pPr>
            <a:r>
              <a:rPr lang="en-US" sz="3999" i="true" spc="-195">
                <a:solidFill>
                  <a:srgbClr val="233F25"/>
                </a:solidFill>
                <a:latin typeface="Poppins Italics"/>
                <a:ea typeface="Poppins Italics"/>
                <a:cs typeface="Poppins Italics"/>
                <a:sym typeface="Poppins Italics"/>
              </a:rPr>
              <a:t>🤝 NGOs / FOOD BANKS</a:t>
            </a:r>
          </a:p>
          <a:p>
            <a:pPr algn="l">
              <a:lnSpc>
                <a:spcPts val="3559"/>
              </a:lnSpc>
            </a:pPr>
          </a:p>
          <a:p>
            <a:pPr algn="l">
              <a:lnSpc>
                <a:spcPts val="3559"/>
              </a:lnSpc>
            </a:pPr>
            <a:r>
              <a:rPr lang="en-US" sz="3999" i="true" spc="-195">
                <a:solidFill>
                  <a:srgbClr val="233F25"/>
                </a:solidFill>
                <a:latin typeface="Poppins Italics"/>
                <a:ea typeface="Poppins Italics"/>
                <a:cs typeface="Poppins Italics"/>
                <a:sym typeface="Poppins Italics"/>
              </a:rPr>
              <a:t>Need:</a:t>
            </a:r>
          </a:p>
          <a:p>
            <a:pPr algn="l">
              <a:lnSpc>
                <a:spcPts val="3559"/>
              </a:lnSpc>
            </a:pPr>
            <a:r>
              <a:rPr lang="en-US" sz="3999" i="true" spc="-195">
                <a:solidFill>
                  <a:srgbClr val="233F25"/>
                </a:solidFill>
                <a:latin typeface="Poppins Italics"/>
                <a:ea typeface="Poppins Italics"/>
                <a:cs typeface="Poppins Italics"/>
                <a:sym typeface="Poppins Italics"/>
              </a:rPr>
              <a:t>Reliable access to available surplus.</a:t>
            </a:r>
          </a:p>
          <a:p>
            <a:pPr algn="l">
              <a:lnSpc>
                <a:spcPts val="3559"/>
              </a:lnSpc>
            </a:pPr>
          </a:p>
          <a:p>
            <a:pPr algn="l">
              <a:lnSpc>
                <a:spcPts val="3559"/>
              </a:lnSpc>
            </a:pPr>
            <a:r>
              <a:rPr lang="en-US" sz="3999" i="true" spc="-195">
                <a:solidFill>
                  <a:srgbClr val="233F25"/>
                </a:solidFill>
                <a:latin typeface="Poppins Italics"/>
                <a:ea typeface="Poppins Italics"/>
                <a:cs typeface="Poppins Italics"/>
                <a:sym typeface="Poppins Italics"/>
              </a:rPr>
              <a:t>Baki:</a:t>
            </a:r>
          </a:p>
          <a:p>
            <a:pPr algn="l">
              <a:lnSpc>
                <a:spcPts val="3559"/>
              </a:lnSpc>
            </a:pPr>
            <a:r>
              <a:rPr lang="en-US" sz="3999" i="true" spc="-195">
                <a:solidFill>
                  <a:srgbClr val="233F25"/>
                </a:solidFill>
                <a:latin typeface="Poppins Italics"/>
                <a:ea typeface="Poppins Italics"/>
                <a:cs typeface="Poppins Italics"/>
                <a:sym typeface="Poppins Italics"/>
              </a:rPr>
              <a:t>Verification + matching + alerts.</a:t>
            </a:r>
          </a:p>
          <a:p>
            <a:pPr algn="l">
              <a:lnSpc>
                <a:spcPts val="3559"/>
              </a:lnSpc>
            </a:pPr>
          </a:p>
        </p:txBody>
      </p:sp>
      <p:sp>
        <p:nvSpPr>
          <p:cNvPr name="TextBox 6" id="6"/>
          <p:cNvSpPr txBox="true"/>
          <p:nvPr/>
        </p:nvSpPr>
        <p:spPr>
          <a:xfrm rot="0">
            <a:off x="10381317" y="9013825"/>
            <a:ext cx="7906683" cy="431800"/>
          </a:xfrm>
          <a:prstGeom prst="rect">
            <a:avLst/>
          </a:prstGeom>
        </p:spPr>
        <p:txBody>
          <a:bodyPr anchor="t" rtlCol="false" tIns="0" lIns="0" bIns="0" rIns="0">
            <a:spAutoFit/>
          </a:bodyPr>
          <a:lstStyle/>
          <a:p>
            <a:pPr algn="l">
              <a:lnSpc>
                <a:spcPts val="3499"/>
              </a:lnSpc>
            </a:pPr>
            <a:r>
              <a:rPr lang="en-US" sz="2499" i="true" b="true">
                <a:solidFill>
                  <a:srgbClr val="FF914D"/>
                </a:solidFill>
                <a:latin typeface="Arimo Bold Italics"/>
                <a:ea typeface="Arimo Bold Italics"/>
                <a:cs typeface="Arimo Bold Italics"/>
                <a:sym typeface="Arimo Bold Italics"/>
              </a:rPr>
              <a:t>One network. Multiple beneficiaries.</a:t>
            </a:r>
          </a:p>
        </p:txBody>
      </p:sp>
      <p:sp>
        <p:nvSpPr>
          <p:cNvPr name="TextBox 7" id="7"/>
          <p:cNvSpPr txBox="true"/>
          <p:nvPr/>
        </p:nvSpPr>
        <p:spPr>
          <a:xfrm rot="0">
            <a:off x="2840566" y="230505"/>
            <a:ext cx="12606868" cy="798195"/>
          </a:xfrm>
          <a:prstGeom prst="rect">
            <a:avLst/>
          </a:prstGeom>
        </p:spPr>
        <p:txBody>
          <a:bodyPr anchor="t" rtlCol="false" tIns="0" lIns="0" bIns="0" rIns="0">
            <a:spAutoFit/>
          </a:bodyPr>
          <a:lstStyle/>
          <a:p>
            <a:pPr algn="l">
              <a:lnSpc>
                <a:spcPts val="5340"/>
              </a:lnSpc>
            </a:pPr>
            <a:r>
              <a:rPr lang="en-US" sz="6000" spc="-294" b="true">
                <a:solidFill>
                  <a:srgbClr val="233F25"/>
                </a:solidFill>
                <a:latin typeface="Poppins Bold"/>
                <a:ea typeface="Poppins Bold"/>
                <a:cs typeface="Poppins Bold"/>
                <a:sym typeface="Poppins Bold"/>
              </a:rPr>
              <a:t>THE PEOPLE BEHIND THE NETWORK</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8F4EC"/>
        </a:solidFill>
      </p:bgPr>
    </p:bg>
    <p:spTree>
      <p:nvGrpSpPr>
        <p:cNvPr id="1" name=""/>
        <p:cNvGrpSpPr/>
        <p:nvPr/>
      </p:nvGrpSpPr>
      <p:grpSpPr>
        <a:xfrm>
          <a:off x="0" y="0"/>
          <a:ext cx="0" cy="0"/>
          <a:chOff x="0" y="0"/>
          <a:chExt cx="0" cy="0"/>
        </a:xfrm>
      </p:grpSpPr>
      <p:sp>
        <p:nvSpPr>
          <p:cNvPr name="TextBox 2" id="2"/>
          <p:cNvSpPr txBox="true"/>
          <p:nvPr/>
        </p:nvSpPr>
        <p:spPr>
          <a:xfrm rot="0">
            <a:off x="1028700" y="456508"/>
            <a:ext cx="16883146" cy="1520190"/>
          </a:xfrm>
          <a:prstGeom prst="rect">
            <a:avLst/>
          </a:prstGeom>
        </p:spPr>
        <p:txBody>
          <a:bodyPr anchor="t" rtlCol="false" tIns="0" lIns="0" bIns="0" rIns="0">
            <a:spAutoFit/>
          </a:bodyPr>
          <a:lstStyle/>
          <a:p>
            <a:pPr algn="ctr">
              <a:lnSpc>
                <a:spcPts val="5580"/>
              </a:lnSpc>
            </a:pPr>
            <a:r>
              <a:rPr lang="en-US" b="true" sz="6000" spc="-294">
                <a:solidFill>
                  <a:srgbClr val="FF914D"/>
                </a:solidFill>
                <a:latin typeface="Poppins Bold"/>
                <a:ea typeface="Poppins Bold"/>
                <a:cs typeface="Poppins Bold"/>
                <a:sym typeface="Poppins Bold"/>
              </a:rPr>
              <a:t>BUILDING THE PRODUCT IS ONLY HALF THE SOLUTION.</a:t>
            </a:r>
          </a:p>
        </p:txBody>
      </p:sp>
      <p:grpSp>
        <p:nvGrpSpPr>
          <p:cNvPr name="Group 3" id="3"/>
          <p:cNvGrpSpPr/>
          <p:nvPr/>
        </p:nvGrpSpPr>
        <p:grpSpPr>
          <a:xfrm rot="0">
            <a:off x="722197" y="2238113"/>
            <a:ext cx="7847711" cy="6576752"/>
            <a:chOff x="0" y="0"/>
            <a:chExt cx="1857612" cy="1556766"/>
          </a:xfrm>
        </p:grpSpPr>
        <p:sp>
          <p:nvSpPr>
            <p:cNvPr name="Freeform 4" id="4"/>
            <p:cNvSpPr/>
            <p:nvPr/>
          </p:nvSpPr>
          <p:spPr>
            <a:xfrm flipH="false" flipV="false" rot="0">
              <a:off x="0" y="0"/>
              <a:ext cx="1857612" cy="1556766"/>
            </a:xfrm>
            <a:custGeom>
              <a:avLst/>
              <a:gdLst/>
              <a:ahLst/>
              <a:cxnLst/>
              <a:rect r="r" b="b" t="t" l="l"/>
              <a:pathLst>
                <a:path h="1556766" w="1857612">
                  <a:moveTo>
                    <a:pt x="27623" y="0"/>
                  </a:moveTo>
                  <a:lnTo>
                    <a:pt x="1829989" y="0"/>
                  </a:lnTo>
                  <a:cubicBezTo>
                    <a:pt x="1845245" y="0"/>
                    <a:pt x="1857612" y="12367"/>
                    <a:pt x="1857612" y="27623"/>
                  </a:cubicBezTo>
                  <a:lnTo>
                    <a:pt x="1857612" y="1529144"/>
                  </a:lnTo>
                  <a:cubicBezTo>
                    <a:pt x="1857612" y="1544399"/>
                    <a:pt x="1845245" y="1556766"/>
                    <a:pt x="1829989" y="1556766"/>
                  </a:cubicBezTo>
                  <a:lnTo>
                    <a:pt x="27623" y="1556766"/>
                  </a:lnTo>
                  <a:cubicBezTo>
                    <a:pt x="12367" y="1556766"/>
                    <a:pt x="0" y="1544399"/>
                    <a:pt x="0" y="1529144"/>
                  </a:cubicBezTo>
                  <a:lnTo>
                    <a:pt x="0" y="27623"/>
                  </a:lnTo>
                  <a:cubicBezTo>
                    <a:pt x="0" y="12367"/>
                    <a:pt x="12367" y="0"/>
                    <a:pt x="27623" y="0"/>
                  </a:cubicBezTo>
                  <a:close/>
                </a:path>
              </a:pathLst>
            </a:custGeom>
            <a:ln w="19050" cap="rnd">
              <a:solidFill>
                <a:srgbClr val="594832"/>
              </a:solidFill>
              <a:prstDash val="solid"/>
              <a:round/>
            </a:ln>
          </p:spPr>
        </p:sp>
        <p:sp>
          <p:nvSpPr>
            <p:cNvPr name="TextBox 5" id="5"/>
            <p:cNvSpPr txBox="true"/>
            <p:nvPr/>
          </p:nvSpPr>
          <p:spPr>
            <a:xfrm>
              <a:off x="0" y="-57150"/>
              <a:ext cx="1857612" cy="1613916"/>
            </a:xfrm>
            <a:prstGeom prst="rect">
              <a:avLst/>
            </a:prstGeom>
          </p:spPr>
          <p:txBody>
            <a:bodyPr anchor="ctr" rtlCol="false" tIns="50800" lIns="50800" bIns="50800" rIns="50800"/>
            <a:lstStyle/>
            <a:p>
              <a:pPr algn="ctr">
                <a:lnSpc>
                  <a:spcPts val="4200"/>
                </a:lnSpc>
              </a:pPr>
              <a:r>
                <a:rPr lang="en-US" sz="3000" b="true">
                  <a:solidFill>
                    <a:srgbClr val="233F25"/>
                  </a:solidFill>
                  <a:latin typeface="Canva Sans Bold"/>
                  <a:ea typeface="Canva Sans Bold"/>
                  <a:cs typeface="Canva Sans Bold"/>
                  <a:sym typeface="Canva Sans Bold"/>
                </a:rPr>
                <a:t>AWARENESS</a:t>
              </a:r>
            </a:p>
            <a:p>
              <a:pPr algn="ctr">
                <a:lnSpc>
                  <a:spcPts val="4200"/>
                </a:lnSpc>
              </a:pPr>
              <a:r>
                <a:rPr lang="en-US" sz="3000">
                  <a:solidFill>
                    <a:srgbClr val="233F25"/>
                  </a:solidFill>
                  <a:latin typeface="Canva Sans"/>
                  <a:ea typeface="Canva Sans"/>
                  <a:cs typeface="Canva Sans"/>
                  <a:sym typeface="Canva Sans"/>
                </a:rPr>
                <a:t>↓</a:t>
              </a:r>
            </a:p>
            <a:p>
              <a:pPr algn="ctr">
                <a:lnSpc>
                  <a:spcPts val="4200"/>
                </a:lnSpc>
              </a:pPr>
              <a:r>
                <a:rPr lang="en-US" sz="3000">
                  <a:solidFill>
                    <a:srgbClr val="233F25"/>
                  </a:solidFill>
                  <a:latin typeface="Canva Sans"/>
                  <a:ea typeface="Canva Sans"/>
                  <a:cs typeface="Canva Sans"/>
                  <a:sym typeface="Canva Sans"/>
                </a:rPr>
                <a:t>People discover Baki</a:t>
              </a:r>
            </a:p>
            <a:p>
              <a:pPr algn="ctr">
                <a:lnSpc>
                  <a:spcPts val="4200"/>
                </a:lnSpc>
              </a:pPr>
            </a:p>
            <a:p>
              <a:pPr algn="ctr">
                <a:lnSpc>
                  <a:spcPts val="4200"/>
                </a:lnSpc>
              </a:pPr>
              <a:r>
                <a:rPr lang="en-US" sz="3000" b="true">
                  <a:solidFill>
                    <a:srgbClr val="233F25"/>
                  </a:solidFill>
                  <a:latin typeface="Canva Sans Bold"/>
                  <a:ea typeface="Canva Sans Bold"/>
                  <a:cs typeface="Canva Sans Bold"/>
                  <a:sym typeface="Canva Sans Bold"/>
                </a:rPr>
                <a:t>INTEREST</a:t>
              </a:r>
            </a:p>
            <a:p>
              <a:pPr algn="ctr">
                <a:lnSpc>
                  <a:spcPts val="4200"/>
                </a:lnSpc>
              </a:pPr>
              <a:r>
                <a:rPr lang="en-US" sz="3000">
                  <a:solidFill>
                    <a:srgbClr val="233F25"/>
                  </a:solidFill>
                  <a:latin typeface="Canva Sans"/>
                  <a:ea typeface="Canva Sans"/>
                  <a:cs typeface="Canva Sans"/>
                  <a:sym typeface="Canva Sans"/>
                </a:rPr>
                <a:t>↓</a:t>
              </a:r>
            </a:p>
            <a:p>
              <a:pPr algn="ctr">
                <a:lnSpc>
                  <a:spcPts val="4200"/>
                </a:lnSpc>
              </a:pPr>
              <a:r>
                <a:rPr lang="en-US" sz="3000">
                  <a:solidFill>
                    <a:srgbClr val="233F25"/>
                  </a:solidFill>
                  <a:latin typeface="Canva Sans"/>
                  <a:ea typeface="Canva Sans"/>
                  <a:cs typeface="Canva Sans"/>
                  <a:sym typeface="Canva Sans"/>
                </a:rPr>
                <a:t>They understand the value</a:t>
              </a:r>
            </a:p>
            <a:p>
              <a:pPr algn="ctr">
                <a:lnSpc>
                  <a:spcPts val="4200"/>
                </a:lnSpc>
              </a:pPr>
            </a:p>
            <a:p>
              <a:pPr algn="ctr">
                <a:lnSpc>
                  <a:spcPts val="4200"/>
                </a:lnSpc>
              </a:pPr>
              <a:r>
                <a:rPr lang="en-US" sz="3000" b="true">
                  <a:solidFill>
                    <a:srgbClr val="233F25"/>
                  </a:solidFill>
                  <a:latin typeface="Canva Sans Bold"/>
                  <a:ea typeface="Canva Sans Bold"/>
                  <a:cs typeface="Canva Sans Bold"/>
                  <a:sym typeface="Canva Sans Bold"/>
                </a:rPr>
                <a:t>SIGN-UP</a:t>
              </a:r>
            </a:p>
            <a:p>
              <a:pPr algn="ctr">
                <a:lnSpc>
                  <a:spcPts val="4200"/>
                </a:lnSpc>
              </a:pPr>
              <a:r>
                <a:rPr lang="en-US" sz="3000">
                  <a:solidFill>
                    <a:srgbClr val="233F25"/>
                  </a:solidFill>
                  <a:latin typeface="Canva Sans"/>
                  <a:ea typeface="Canva Sans"/>
                  <a:cs typeface="Canva Sans"/>
                  <a:sym typeface="Canva Sans"/>
                </a:rPr>
                <a:t>↓</a:t>
              </a:r>
            </a:p>
            <a:p>
              <a:pPr algn="ctr">
                <a:lnSpc>
                  <a:spcPts val="4200"/>
                </a:lnSpc>
              </a:pPr>
              <a:r>
                <a:rPr lang="en-US" sz="3000">
                  <a:solidFill>
                    <a:srgbClr val="233F25"/>
                  </a:solidFill>
                  <a:latin typeface="Canva Sans"/>
                  <a:ea typeface="Canva Sans"/>
                  <a:cs typeface="Canva Sans"/>
                  <a:sym typeface="Canva Sans"/>
                </a:rPr>
                <a:t>They join the network</a:t>
              </a:r>
            </a:p>
            <a:p>
              <a:pPr algn="ctr">
                <a:lnSpc>
                  <a:spcPts val="4200"/>
                </a:lnSpc>
              </a:pPr>
            </a:p>
          </p:txBody>
        </p:sp>
      </p:grpSp>
      <p:grpSp>
        <p:nvGrpSpPr>
          <p:cNvPr name="Group 6" id="6"/>
          <p:cNvGrpSpPr/>
          <p:nvPr/>
        </p:nvGrpSpPr>
        <p:grpSpPr>
          <a:xfrm rot="0">
            <a:off x="10064135" y="2238113"/>
            <a:ext cx="7847711" cy="6576752"/>
            <a:chOff x="0" y="0"/>
            <a:chExt cx="1857612" cy="1556766"/>
          </a:xfrm>
        </p:grpSpPr>
        <p:sp>
          <p:nvSpPr>
            <p:cNvPr name="Freeform 7" id="7"/>
            <p:cNvSpPr/>
            <p:nvPr/>
          </p:nvSpPr>
          <p:spPr>
            <a:xfrm flipH="false" flipV="false" rot="0">
              <a:off x="0" y="0"/>
              <a:ext cx="1857612" cy="1556766"/>
            </a:xfrm>
            <a:custGeom>
              <a:avLst/>
              <a:gdLst/>
              <a:ahLst/>
              <a:cxnLst/>
              <a:rect r="r" b="b" t="t" l="l"/>
              <a:pathLst>
                <a:path h="1556766" w="1857612">
                  <a:moveTo>
                    <a:pt x="27623" y="0"/>
                  </a:moveTo>
                  <a:lnTo>
                    <a:pt x="1829989" y="0"/>
                  </a:lnTo>
                  <a:cubicBezTo>
                    <a:pt x="1845245" y="0"/>
                    <a:pt x="1857612" y="12367"/>
                    <a:pt x="1857612" y="27623"/>
                  </a:cubicBezTo>
                  <a:lnTo>
                    <a:pt x="1857612" y="1529144"/>
                  </a:lnTo>
                  <a:cubicBezTo>
                    <a:pt x="1857612" y="1544399"/>
                    <a:pt x="1845245" y="1556766"/>
                    <a:pt x="1829989" y="1556766"/>
                  </a:cubicBezTo>
                  <a:lnTo>
                    <a:pt x="27623" y="1556766"/>
                  </a:lnTo>
                  <a:cubicBezTo>
                    <a:pt x="12367" y="1556766"/>
                    <a:pt x="0" y="1544399"/>
                    <a:pt x="0" y="1529144"/>
                  </a:cubicBezTo>
                  <a:lnTo>
                    <a:pt x="0" y="27623"/>
                  </a:lnTo>
                  <a:cubicBezTo>
                    <a:pt x="0" y="12367"/>
                    <a:pt x="12367" y="0"/>
                    <a:pt x="27623" y="0"/>
                  </a:cubicBezTo>
                  <a:close/>
                </a:path>
              </a:pathLst>
            </a:custGeom>
            <a:ln w="19050" cap="rnd">
              <a:solidFill>
                <a:srgbClr val="594832"/>
              </a:solidFill>
              <a:prstDash val="solid"/>
              <a:round/>
            </a:ln>
          </p:spPr>
        </p:sp>
        <p:sp>
          <p:nvSpPr>
            <p:cNvPr name="TextBox 8" id="8"/>
            <p:cNvSpPr txBox="true"/>
            <p:nvPr/>
          </p:nvSpPr>
          <p:spPr>
            <a:xfrm>
              <a:off x="0" y="-57150"/>
              <a:ext cx="1857612" cy="1613916"/>
            </a:xfrm>
            <a:prstGeom prst="rect">
              <a:avLst/>
            </a:prstGeom>
          </p:spPr>
          <p:txBody>
            <a:bodyPr anchor="ctr" rtlCol="false" tIns="50800" lIns="50800" bIns="50800" rIns="50800"/>
            <a:lstStyle/>
            <a:p>
              <a:pPr algn="ctr">
                <a:lnSpc>
                  <a:spcPts val="4200"/>
                </a:lnSpc>
              </a:pPr>
              <a:r>
                <a:rPr lang="en-US" sz="3000" b="true">
                  <a:solidFill>
                    <a:srgbClr val="233F25"/>
                  </a:solidFill>
                  <a:latin typeface="Canva Sans Bold"/>
                  <a:ea typeface="Canva Sans Bold"/>
                  <a:cs typeface="Canva Sans Bold"/>
                  <a:sym typeface="Canva Sans Bold"/>
                </a:rPr>
                <a:t>FIRST ACTION</a:t>
              </a:r>
            </a:p>
            <a:p>
              <a:pPr algn="ctr">
                <a:lnSpc>
                  <a:spcPts val="4200"/>
                </a:lnSpc>
              </a:pPr>
              <a:r>
                <a:rPr lang="en-US" sz="3000">
                  <a:solidFill>
                    <a:srgbClr val="233F25"/>
                  </a:solidFill>
                  <a:latin typeface="Canva Sans"/>
                  <a:ea typeface="Canva Sans"/>
                  <a:cs typeface="Canva Sans"/>
                  <a:sym typeface="Canva Sans"/>
                </a:rPr>
                <a:t>↓</a:t>
              </a:r>
            </a:p>
            <a:p>
              <a:pPr algn="ctr">
                <a:lnSpc>
                  <a:spcPts val="4200"/>
                </a:lnSpc>
              </a:pPr>
              <a:r>
                <a:rPr lang="en-US" sz="3000">
                  <a:solidFill>
                    <a:srgbClr val="233F25"/>
                  </a:solidFill>
                  <a:latin typeface="Canva Sans"/>
                  <a:ea typeface="Canva Sans"/>
                  <a:cs typeface="Canva Sans"/>
                  <a:sym typeface="Canva Sans"/>
                </a:rPr>
                <a:t>They list / donate / claim</a:t>
              </a:r>
            </a:p>
            <a:p>
              <a:pPr algn="ctr">
                <a:lnSpc>
                  <a:spcPts val="4200"/>
                </a:lnSpc>
              </a:pPr>
            </a:p>
            <a:p>
              <a:pPr algn="ctr">
                <a:lnSpc>
                  <a:spcPts val="4200"/>
                </a:lnSpc>
              </a:pPr>
              <a:r>
                <a:rPr lang="en-US" sz="3000" b="true">
                  <a:solidFill>
                    <a:srgbClr val="233F25"/>
                  </a:solidFill>
                  <a:latin typeface="Canva Sans Bold"/>
                  <a:ea typeface="Canva Sans Bold"/>
                  <a:cs typeface="Canva Sans Bold"/>
                  <a:sym typeface="Canva Sans Bold"/>
                </a:rPr>
                <a:t>SUCCESSFUL MATCH</a:t>
              </a:r>
            </a:p>
            <a:p>
              <a:pPr algn="ctr">
                <a:lnSpc>
                  <a:spcPts val="4200"/>
                </a:lnSpc>
              </a:pPr>
              <a:r>
                <a:rPr lang="en-US" sz="3000">
                  <a:solidFill>
                    <a:srgbClr val="233F25"/>
                  </a:solidFill>
                  <a:latin typeface="Canva Sans"/>
                  <a:ea typeface="Canva Sans"/>
                  <a:cs typeface="Canva Sans"/>
                  <a:sym typeface="Canva Sans"/>
                </a:rPr>
                <a:t>↓</a:t>
              </a:r>
            </a:p>
            <a:p>
              <a:pPr algn="ctr">
                <a:lnSpc>
                  <a:spcPts val="4200"/>
                </a:lnSpc>
              </a:pPr>
              <a:r>
                <a:rPr lang="en-US" sz="3000">
                  <a:solidFill>
                    <a:srgbClr val="233F25"/>
                  </a:solidFill>
                  <a:latin typeface="Canva Sans"/>
                  <a:ea typeface="Canva Sans"/>
                  <a:cs typeface="Canva Sans"/>
                  <a:sym typeface="Canva Sans"/>
                </a:rPr>
                <a:t>They see the value</a:t>
              </a:r>
            </a:p>
            <a:p>
              <a:pPr algn="ctr">
                <a:lnSpc>
                  <a:spcPts val="4200"/>
                </a:lnSpc>
              </a:pPr>
            </a:p>
            <a:p>
              <a:pPr algn="ctr">
                <a:lnSpc>
                  <a:spcPts val="4200"/>
                </a:lnSpc>
              </a:pPr>
              <a:r>
                <a:rPr lang="en-US" sz="3000" b="true">
                  <a:solidFill>
                    <a:srgbClr val="233F25"/>
                  </a:solidFill>
                  <a:latin typeface="Canva Sans Bold"/>
                  <a:ea typeface="Canva Sans Bold"/>
                  <a:cs typeface="Canva Sans Bold"/>
                  <a:sym typeface="Canva Sans Bold"/>
                </a:rPr>
                <a:t>RETENTION</a:t>
              </a:r>
            </a:p>
            <a:p>
              <a:pPr algn="ctr">
                <a:lnSpc>
                  <a:spcPts val="4200"/>
                </a:lnSpc>
              </a:pPr>
              <a:r>
                <a:rPr lang="en-US" sz="3000">
                  <a:solidFill>
                    <a:srgbClr val="233F25"/>
                  </a:solidFill>
                  <a:latin typeface="Canva Sans"/>
                  <a:ea typeface="Canva Sans"/>
                  <a:cs typeface="Canva Sans"/>
                  <a:sym typeface="Canva Sans"/>
                </a:rPr>
                <a:t>↓</a:t>
              </a:r>
            </a:p>
            <a:p>
              <a:pPr algn="ctr">
                <a:lnSpc>
                  <a:spcPts val="4200"/>
                </a:lnSpc>
              </a:pPr>
              <a:r>
                <a:rPr lang="en-US" sz="3000">
                  <a:solidFill>
                    <a:srgbClr val="233F25"/>
                  </a:solidFill>
                  <a:latin typeface="Canva Sans"/>
                  <a:ea typeface="Canva Sans"/>
                  <a:cs typeface="Canva Sans"/>
                  <a:sym typeface="Canva Sans"/>
                </a:rPr>
                <a:t>They come back</a:t>
              </a:r>
            </a:p>
            <a:p>
              <a:pPr algn="ctr">
                <a:lnSpc>
                  <a:spcPts val="4200"/>
                </a:lnSpc>
              </a:pPr>
            </a:p>
          </p:txBody>
        </p:sp>
      </p:grpSp>
      <p:grpSp>
        <p:nvGrpSpPr>
          <p:cNvPr name="Group 9" id="9"/>
          <p:cNvGrpSpPr/>
          <p:nvPr/>
        </p:nvGrpSpPr>
        <p:grpSpPr>
          <a:xfrm rot="0">
            <a:off x="3637102" y="9258300"/>
            <a:ext cx="10350889" cy="1014273"/>
            <a:chOff x="0" y="0"/>
            <a:chExt cx="1786592" cy="175066"/>
          </a:xfrm>
        </p:grpSpPr>
        <p:sp>
          <p:nvSpPr>
            <p:cNvPr name="Freeform 10" id="10"/>
            <p:cNvSpPr/>
            <p:nvPr/>
          </p:nvSpPr>
          <p:spPr>
            <a:xfrm flipH="false" flipV="false" rot="0">
              <a:off x="0" y="0"/>
              <a:ext cx="1786592" cy="175066"/>
            </a:xfrm>
            <a:custGeom>
              <a:avLst/>
              <a:gdLst/>
              <a:ahLst/>
              <a:cxnLst/>
              <a:rect r="r" b="b" t="t" l="l"/>
              <a:pathLst>
                <a:path h="175066" w="1786592">
                  <a:moveTo>
                    <a:pt x="74795" y="0"/>
                  </a:moveTo>
                  <a:lnTo>
                    <a:pt x="1711797" y="0"/>
                  </a:lnTo>
                  <a:cubicBezTo>
                    <a:pt x="1753105" y="0"/>
                    <a:pt x="1786592" y="33487"/>
                    <a:pt x="1786592" y="74795"/>
                  </a:cubicBezTo>
                  <a:lnTo>
                    <a:pt x="1786592" y="100271"/>
                  </a:lnTo>
                  <a:cubicBezTo>
                    <a:pt x="1786592" y="120108"/>
                    <a:pt x="1778711" y="139133"/>
                    <a:pt x="1764685" y="153159"/>
                  </a:cubicBezTo>
                  <a:cubicBezTo>
                    <a:pt x="1750658" y="167186"/>
                    <a:pt x="1731634" y="175066"/>
                    <a:pt x="1711797" y="175066"/>
                  </a:cubicBezTo>
                  <a:lnTo>
                    <a:pt x="74795" y="175066"/>
                  </a:lnTo>
                  <a:cubicBezTo>
                    <a:pt x="54958" y="175066"/>
                    <a:pt x="35934" y="167186"/>
                    <a:pt x="21907" y="153159"/>
                  </a:cubicBezTo>
                  <a:cubicBezTo>
                    <a:pt x="7880" y="139133"/>
                    <a:pt x="0" y="120108"/>
                    <a:pt x="0" y="100271"/>
                  </a:cubicBezTo>
                  <a:lnTo>
                    <a:pt x="0" y="74795"/>
                  </a:lnTo>
                  <a:cubicBezTo>
                    <a:pt x="0" y="54958"/>
                    <a:pt x="7880" y="35934"/>
                    <a:pt x="21907" y="21907"/>
                  </a:cubicBezTo>
                  <a:cubicBezTo>
                    <a:pt x="35934" y="7880"/>
                    <a:pt x="54958" y="0"/>
                    <a:pt x="74795" y="0"/>
                  </a:cubicBezTo>
                  <a:close/>
                </a:path>
              </a:pathLst>
            </a:custGeom>
            <a:solidFill>
              <a:srgbClr val="28412E"/>
            </a:solidFill>
            <a:ln cap="rnd">
              <a:noFill/>
              <a:prstDash val="solid"/>
              <a:round/>
            </a:ln>
          </p:spPr>
        </p:sp>
        <p:sp>
          <p:nvSpPr>
            <p:cNvPr name="TextBox 11" id="11"/>
            <p:cNvSpPr txBox="true"/>
            <p:nvPr/>
          </p:nvSpPr>
          <p:spPr>
            <a:xfrm>
              <a:off x="0" y="-57150"/>
              <a:ext cx="1786592" cy="232216"/>
            </a:xfrm>
            <a:prstGeom prst="rect">
              <a:avLst/>
            </a:prstGeom>
          </p:spPr>
          <p:txBody>
            <a:bodyPr anchor="ctr" rtlCol="false" tIns="50800" lIns="50800" bIns="50800" rIns="50800"/>
            <a:lstStyle/>
            <a:p>
              <a:pPr algn="ctr">
                <a:lnSpc>
                  <a:spcPts val="3079"/>
                </a:lnSpc>
              </a:pPr>
              <a:r>
                <a:rPr lang="en-US" sz="2199" b="true">
                  <a:solidFill>
                    <a:srgbClr val="F4ECE3"/>
                  </a:solidFill>
                  <a:latin typeface="Poppins Bold"/>
                  <a:ea typeface="Poppins Bold"/>
                  <a:cs typeface="Poppins Bold"/>
                  <a:sym typeface="Poppins Bold"/>
                </a:rPr>
                <a:t>Our marketing focus:</a:t>
              </a:r>
            </a:p>
            <a:p>
              <a:pPr algn="ctr">
                <a:lnSpc>
                  <a:spcPts val="3079"/>
                </a:lnSpc>
              </a:pPr>
              <a:r>
                <a:rPr lang="en-US" b="true" sz="2199">
                  <a:solidFill>
                    <a:srgbClr val="F4ECE3"/>
                  </a:solidFill>
                  <a:latin typeface="Poppins Bold"/>
                  <a:ea typeface="Poppins Bold"/>
                  <a:cs typeface="Poppins Bold"/>
                  <a:sym typeface="Poppins Bold"/>
                </a:rPr>
                <a:t>Turn awareness into adoption.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4EC"/>
        </a:solidFill>
      </p:bgPr>
    </p:bg>
    <p:spTree>
      <p:nvGrpSpPr>
        <p:cNvPr id="1" name=""/>
        <p:cNvGrpSpPr/>
        <p:nvPr/>
      </p:nvGrpSpPr>
      <p:grpSpPr>
        <a:xfrm>
          <a:off x="0" y="0"/>
          <a:ext cx="0" cy="0"/>
          <a:chOff x="0" y="0"/>
          <a:chExt cx="0" cy="0"/>
        </a:xfrm>
      </p:grpSpPr>
      <p:sp>
        <p:nvSpPr>
          <p:cNvPr name="Freeform 2" id="2"/>
          <p:cNvSpPr/>
          <p:nvPr/>
        </p:nvSpPr>
        <p:spPr>
          <a:xfrm flipH="false" flipV="false" rot="0">
            <a:off x="10896747" y="182305"/>
            <a:ext cx="5943409" cy="9922389"/>
          </a:xfrm>
          <a:custGeom>
            <a:avLst/>
            <a:gdLst/>
            <a:ahLst/>
            <a:cxnLst/>
            <a:rect r="r" b="b" t="t" l="l"/>
            <a:pathLst>
              <a:path h="9922389" w="5943409">
                <a:moveTo>
                  <a:pt x="0" y="0"/>
                </a:moveTo>
                <a:lnTo>
                  <a:pt x="5943409" y="0"/>
                </a:lnTo>
                <a:lnTo>
                  <a:pt x="5943409" y="9922390"/>
                </a:lnTo>
                <a:lnTo>
                  <a:pt x="0" y="9922390"/>
                </a:lnTo>
                <a:lnTo>
                  <a:pt x="0" y="0"/>
                </a:lnTo>
                <a:close/>
              </a:path>
            </a:pathLst>
          </a:custGeom>
          <a:blipFill>
            <a:blip r:embed="rId2"/>
            <a:stretch>
              <a:fillRect l="-1866" t="0" r="-1866" b="-19910"/>
            </a:stretch>
          </a:blipFill>
        </p:spPr>
      </p:sp>
      <p:sp>
        <p:nvSpPr>
          <p:cNvPr name="TextBox 3" id="3"/>
          <p:cNvSpPr txBox="true"/>
          <p:nvPr/>
        </p:nvSpPr>
        <p:spPr>
          <a:xfrm rot="0">
            <a:off x="575078" y="7287445"/>
            <a:ext cx="8568922" cy="542925"/>
          </a:xfrm>
          <a:prstGeom prst="rect">
            <a:avLst/>
          </a:prstGeom>
        </p:spPr>
        <p:txBody>
          <a:bodyPr anchor="t" rtlCol="false" tIns="0" lIns="0" bIns="0" rIns="0">
            <a:spAutoFit/>
          </a:bodyPr>
          <a:lstStyle/>
          <a:p>
            <a:pPr algn="l">
              <a:lnSpc>
                <a:spcPts val="4200"/>
              </a:lnSpc>
              <a:spcBef>
                <a:spcPct val="0"/>
              </a:spcBef>
            </a:pPr>
            <a:r>
              <a:rPr lang="en-US" sz="3000" b="true">
                <a:solidFill>
                  <a:srgbClr val="FF914D"/>
                </a:solidFill>
                <a:latin typeface="Poppins Bold"/>
                <a:ea typeface="Poppins Bold"/>
                <a:cs typeface="Poppins Bold"/>
                <a:sym typeface="Poppins Bold"/>
              </a:rPr>
              <a:t>VALIDATE → PILOT → MEASURE → SCALE</a:t>
            </a:r>
          </a:p>
        </p:txBody>
      </p:sp>
      <p:sp>
        <p:nvSpPr>
          <p:cNvPr name="TextBox 4" id="4"/>
          <p:cNvSpPr txBox="true"/>
          <p:nvPr/>
        </p:nvSpPr>
        <p:spPr>
          <a:xfrm rot="0">
            <a:off x="510838" y="219895"/>
            <a:ext cx="11010049" cy="1009650"/>
          </a:xfrm>
          <a:prstGeom prst="rect">
            <a:avLst/>
          </a:prstGeom>
        </p:spPr>
        <p:txBody>
          <a:bodyPr anchor="t" rtlCol="false" tIns="0" lIns="0" bIns="0" rIns="0">
            <a:spAutoFit/>
          </a:bodyPr>
          <a:lstStyle/>
          <a:p>
            <a:pPr algn="l">
              <a:lnSpc>
                <a:spcPts val="7500"/>
              </a:lnSpc>
            </a:pPr>
            <a:r>
              <a:rPr lang="en-US" sz="6000" spc="-294" b="true">
                <a:solidFill>
                  <a:srgbClr val="FF914D"/>
                </a:solidFill>
                <a:latin typeface="Poppins Bold"/>
                <a:ea typeface="Poppins Bold"/>
                <a:cs typeface="Poppins Bold"/>
                <a:sym typeface="Poppins Bold"/>
              </a:rPr>
              <a:t>HOW WE’LL MEASURE IMPACT</a:t>
            </a:r>
          </a:p>
        </p:txBody>
      </p:sp>
      <p:sp>
        <p:nvSpPr>
          <p:cNvPr name="TextBox 5" id="5"/>
          <p:cNvSpPr txBox="true"/>
          <p:nvPr/>
        </p:nvSpPr>
        <p:spPr>
          <a:xfrm rot="0">
            <a:off x="1028700" y="1639120"/>
            <a:ext cx="6514674" cy="5734050"/>
          </a:xfrm>
          <a:prstGeom prst="rect">
            <a:avLst/>
          </a:prstGeom>
        </p:spPr>
        <p:txBody>
          <a:bodyPr anchor="t" rtlCol="false" tIns="0" lIns="0" bIns="0" rIns="0">
            <a:spAutoFit/>
          </a:bodyPr>
          <a:lstStyle/>
          <a:p>
            <a:pPr algn="l">
              <a:lnSpc>
                <a:spcPts val="3750"/>
              </a:lnSpc>
            </a:pPr>
            <a:r>
              <a:rPr lang="en-US" sz="3000" spc="-147" b="true">
                <a:solidFill>
                  <a:srgbClr val="28412E"/>
                </a:solidFill>
                <a:latin typeface="Poppins Bold"/>
                <a:ea typeface="Poppins Bold"/>
                <a:cs typeface="Poppins Bold"/>
                <a:sym typeface="Poppins Bold"/>
              </a:rPr>
              <a:t>LISTINGS</a:t>
            </a:r>
          </a:p>
          <a:p>
            <a:pPr algn="l">
              <a:lnSpc>
                <a:spcPts val="3750"/>
              </a:lnSpc>
            </a:pPr>
            <a:r>
              <a:rPr lang="en-US" sz="3000" i="true" spc="-147">
                <a:solidFill>
                  <a:srgbClr val="28412E"/>
                </a:solidFill>
                <a:latin typeface="Poppins Italics"/>
                <a:ea typeface="Poppins Italics"/>
                <a:cs typeface="Poppins Italics"/>
                <a:sym typeface="Poppins Italics"/>
              </a:rPr>
              <a:t>How many surplus listings?</a:t>
            </a:r>
          </a:p>
          <a:p>
            <a:pPr algn="l">
              <a:lnSpc>
                <a:spcPts val="3750"/>
              </a:lnSpc>
            </a:pPr>
          </a:p>
          <a:p>
            <a:pPr algn="l">
              <a:lnSpc>
                <a:spcPts val="3750"/>
              </a:lnSpc>
            </a:pPr>
            <a:r>
              <a:rPr lang="en-US" sz="3000" spc="-147" b="true">
                <a:solidFill>
                  <a:srgbClr val="28412E"/>
                </a:solidFill>
                <a:latin typeface="Poppins Bold"/>
                <a:ea typeface="Poppins Bold"/>
                <a:cs typeface="Poppins Bold"/>
                <a:sym typeface="Poppins Bold"/>
              </a:rPr>
              <a:t>MATCHES</a:t>
            </a:r>
          </a:p>
          <a:p>
            <a:pPr algn="l">
              <a:lnSpc>
                <a:spcPts val="3750"/>
              </a:lnSpc>
            </a:pPr>
            <a:r>
              <a:rPr lang="en-US" sz="3000" i="true" spc="-147">
                <a:solidFill>
                  <a:srgbClr val="28412E"/>
                </a:solidFill>
                <a:latin typeface="Poppins Italics"/>
                <a:ea typeface="Poppins Italics"/>
                <a:cs typeface="Poppins Italics"/>
                <a:sym typeface="Poppins Italics"/>
              </a:rPr>
              <a:t>How many successful connections?</a:t>
            </a:r>
          </a:p>
          <a:p>
            <a:pPr algn="l">
              <a:lnSpc>
                <a:spcPts val="3750"/>
              </a:lnSpc>
            </a:pPr>
          </a:p>
          <a:p>
            <a:pPr algn="l">
              <a:lnSpc>
                <a:spcPts val="3750"/>
              </a:lnSpc>
            </a:pPr>
            <a:r>
              <a:rPr lang="en-US" sz="3000" spc="-147" b="true">
                <a:solidFill>
                  <a:srgbClr val="28412E"/>
                </a:solidFill>
                <a:latin typeface="Poppins Bold"/>
                <a:ea typeface="Poppins Bold"/>
                <a:cs typeface="Poppins Bold"/>
                <a:sym typeface="Poppins Bold"/>
              </a:rPr>
              <a:t>FOOD REDISTRIBUTED</a:t>
            </a:r>
          </a:p>
          <a:p>
            <a:pPr algn="l">
              <a:lnSpc>
                <a:spcPts val="3750"/>
              </a:lnSpc>
            </a:pPr>
            <a:r>
              <a:rPr lang="en-US" sz="3000" i="true" spc="-147">
                <a:solidFill>
                  <a:srgbClr val="28412E"/>
                </a:solidFill>
                <a:latin typeface="Poppins Italics"/>
                <a:ea typeface="Poppins Italics"/>
                <a:cs typeface="Poppins Italics"/>
                <a:sym typeface="Poppins Italics"/>
              </a:rPr>
              <a:t>How many kg diverted from waste?</a:t>
            </a:r>
          </a:p>
          <a:p>
            <a:pPr algn="l">
              <a:lnSpc>
                <a:spcPts val="3750"/>
              </a:lnSpc>
            </a:pPr>
          </a:p>
          <a:p>
            <a:pPr algn="l">
              <a:lnSpc>
                <a:spcPts val="3750"/>
              </a:lnSpc>
            </a:pPr>
            <a:r>
              <a:rPr lang="en-US" sz="3000" spc="-147" b="true">
                <a:solidFill>
                  <a:srgbClr val="28412E"/>
                </a:solidFill>
                <a:latin typeface="Poppins Bold"/>
                <a:ea typeface="Poppins Bold"/>
                <a:cs typeface="Poppins Bold"/>
                <a:sym typeface="Poppins Bold"/>
              </a:rPr>
              <a:t>RETENTION</a:t>
            </a:r>
          </a:p>
          <a:p>
            <a:pPr algn="l">
              <a:lnSpc>
                <a:spcPts val="3750"/>
              </a:lnSpc>
            </a:pPr>
            <a:r>
              <a:rPr lang="en-US" sz="3000" i="true" spc="-147">
                <a:solidFill>
                  <a:srgbClr val="28412E"/>
                </a:solidFill>
                <a:latin typeface="Poppins Italics"/>
                <a:ea typeface="Poppins Italics"/>
                <a:cs typeface="Poppins Italics"/>
                <a:sym typeface="Poppins Italics"/>
              </a:rPr>
              <a:t>How many users return?</a:t>
            </a:r>
          </a:p>
          <a:p>
            <a:pPr algn="l">
              <a:lnSpc>
                <a:spcPts val="3750"/>
              </a:lnSpc>
            </a:pPr>
          </a:p>
        </p:txBody>
      </p:sp>
      <p:sp>
        <p:nvSpPr>
          <p:cNvPr name="TextBox 6" id="6"/>
          <p:cNvSpPr txBox="true"/>
          <p:nvPr/>
        </p:nvSpPr>
        <p:spPr>
          <a:xfrm rot="0">
            <a:off x="575078" y="8546465"/>
            <a:ext cx="9273199" cy="1460500"/>
          </a:xfrm>
          <a:prstGeom prst="rect">
            <a:avLst/>
          </a:prstGeom>
        </p:spPr>
        <p:txBody>
          <a:bodyPr anchor="t" rtlCol="false" tIns="0" lIns="0" bIns="0" rIns="0">
            <a:spAutoFit/>
          </a:bodyPr>
          <a:lstStyle/>
          <a:p>
            <a:pPr algn="l">
              <a:lnSpc>
                <a:spcPts val="7000"/>
              </a:lnSpc>
            </a:pPr>
            <a:r>
              <a:rPr lang="en-US" sz="5000" b="true">
                <a:solidFill>
                  <a:srgbClr val="28412E"/>
                </a:solidFill>
                <a:latin typeface="Poppins Bold"/>
                <a:ea typeface="Poppins Bold"/>
                <a:cs typeface="Poppins Bold"/>
                <a:sym typeface="Poppins Bold"/>
              </a:rPr>
              <a:t>BAKI</a:t>
            </a:r>
          </a:p>
          <a:p>
            <a:pPr algn="l">
              <a:lnSpc>
                <a:spcPts val="4200"/>
              </a:lnSpc>
              <a:spcBef>
                <a:spcPct val="0"/>
              </a:spcBef>
            </a:pPr>
            <a:r>
              <a:rPr lang="en-US" sz="3000" i="true">
                <a:solidFill>
                  <a:srgbClr val="28412E"/>
                </a:solidFill>
                <a:latin typeface="Poppins Italics"/>
                <a:ea typeface="Poppins Italics"/>
                <a:cs typeface="Poppins Italics"/>
                <a:sym typeface="Poppins Italics"/>
              </a:rPr>
              <a:t>Surplus food, matched before it spoils.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DAHSFFnl8PI</dc:identifier>
  <dcterms:modified xsi:type="dcterms:W3CDTF">2011-08-01T06:04:30Z</dcterms:modified>
  <cp:revision>1</cp:revision>
  <dc:title>Catalyst Alliance SDG 2 — Zero Hunger 2026 Presentation ✅</dc:title>
</cp:coreProperties>
</file>