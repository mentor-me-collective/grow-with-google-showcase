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0"/>
            <a:ext cx="5440680" cy="6858000"/>
          </a:xfrm>
          <a:prstGeom prst="rect">
            <a:avLst/>
          </a:prstGeom>
          <a:solidFill>
            <a:srgbClr val="3E2438"/>
          </a:solidFill>
          <a:ln/>
        </p:spPr>
      </p:sp>
      <p:pic>
        <p:nvPicPr>
          <p:cNvPr id="3" name="Image 0" descr="/home/claude/escale_deck/hero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1691640"/>
            <a:ext cx="4709160" cy="1764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86600" y="36118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39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escale.app — landing experience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086600" y="406908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light at the end of the tunnel is here. The path forward starts with a few honest answers.”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640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OVERVIEW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0972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escale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fastest, safest way from burnout to real support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 is a two-minute, anonymous routing tool that matches burned-out employees, caregivers, and healthcare staff with verified peer groups and affordable resources — no clinical assessment, no dead links, no guesswork.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4343400"/>
            <a:ext cx="0" cy="457200"/>
          </a:xfrm>
          <a:prstGeom prst="line">
            <a:avLst/>
          </a:prstGeom>
          <a:noFill/>
          <a:ln w="19050">
            <a:solidFill>
              <a:srgbClr val="B98CA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3159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22960" y="45262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burnout-to-support routing platform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4910328"/>
            <a:ext cx="0" cy="457200"/>
          </a:xfrm>
          <a:prstGeom prst="line">
            <a:avLst/>
          </a:prstGeom>
          <a:noFill/>
          <a:ln w="19050">
            <a:solidFill>
              <a:srgbClr val="B98CA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8828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22960" y="509320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Employers, health plans &amp; community partners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477256"/>
            <a:ext cx="0" cy="457200"/>
          </a:xfrm>
          <a:prstGeom prst="line">
            <a:avLst/>
          </a:prstGeom>
          <a:noFill/>
          <a:ln w="19050">
            <a:solidFill>
              <a:srgbClr val="B98C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54498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22960" y="566013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partnership, thousands of people routed to real help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 is costing you people — quietly.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people already know they're burning out. What stops them is the next step — finding help that fits their role, their budget, and the ten minutes they have to look.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E243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31343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3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experience burnout at least sometimes — a retention and productivity risk hiding in plain sight (Gallup).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3383280" y="21488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E243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31343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3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66160" y="29260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know how to access the mental-health benefits you already pay for. Almost half never use what's on offer (NAMI).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E243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31343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3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$438B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0" y="29260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globally each year to reduced productivity from poor employee well-being (Gallup).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8595360" cy="1965960"/>
          </a:xfrm>
          <a:prstGeom prst="roundRect">
            <a:avLst>
              <a:gd name="adj" fmla="val 5581"/>
            </a:avLst>
          </a:prstGeom>
          <a:solidFill>
            <a:srgbClr val="3E243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708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OUT THERE FALLS SHORT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754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EAP directories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0749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lists with no filtering by role, budget, or how someone actually feels — people give up before they find a fit.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93592" y="4754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Stale, unverified listings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93592" y="50749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links and defunct programs erode trust the moment someone finally reaches out.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18504" y="4754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utilization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18504" y="50749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go unused not because people don't need them, but because finding the right one feels like a second job.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signpost, not another clinic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 doesn't try to be a therapist, an app subscription, or a benefits portal. It's the missing layer that gets people from “I need help” to a real, verified option in under two minutes.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29184" cy="329184"/>
          </a:xfrm>
          <a:prstGeom prst="ellipse">
            <a:avLst/>
          </a:prstGeom>
          <a:solidFill>
            <a:srgbClr val="B98CA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8833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 few honest questions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298094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level, role, budget, and preferred support style — no lengthy clinical intake.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329184" cy="329184"/>
          </a:xfrm>
          <a:prstGeom prst="ellipse">
            <a:avLst/>
          </a:prstGeom>
          <a:solidFill>
            <a:srgbClr val="B98CA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03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64845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matched, not overwhelmed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394106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possible resources narrowed to a small, relevant shortlist.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329184" cy="329184"/>
          </a:xfrm>
          <a:prstGeom prst="ellipse">
            <a:avLst/>
          </a:prstGeom>
          <a:solidFill>
            <a:srgbClr val="B98CA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60857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real, verified help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5840" y="490118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groups, tools, and professionals — every listing actively checked and dated.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63640" y="685800"/>
            <a:ext cx="5349240" cy="5440680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E2438">
                <a:alpha val="20000"/>
              </a:srgbClr>
            </a:outerShdw>
          </a:effectLst>
        </p:spPr>
      </p:sp>
      <p:pic>
        <p:nvPicPr>
          <p:cNvPr id="18" name="Image 0" descr="/mnt/user-data/uploads/1786525189270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417320"/>
            <a:ext cx="4983480" cy="21488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46520" y="36576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quiz — the entire ask, in one screen.</a:t>
            </a:r>
            <a:endParaRPr lang="en-US" sz="1000" dirty="0"/>
          </a:p>
        </p:txBody>
      </p:sp>
      <p:pic>
        <p:nvPicPr>
          <p:cNvPr id="20" name="Image 1" descr="/mnt/user-data/uploads/1786525207660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4206240"/>
            <a:ext cx="4983480" cy="17830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PARTNERS TRUST ESCALE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listing, verified down to the date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put your name behind a broken link. Every peer group, tool, and professional resource in escale is actively re-checked — so what you recommend to your people stays credible.</a:t>
            </a:r>
            <a:endParaRPr lang="en-US" sz="1300" dirty="0"/>
          </a:p>
        </p:txBody>
      </p:sp>
      <p:pic>
        <p:nvPicPr>
          <p:cNvPr id="5" name="Image 0" descr="/mnt/user-data/uploads/1786525281149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65960"/>
            <a:ext cx="1106424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64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39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view: verified peer communities, each showing a facilitator, schedule, and “Verified” badge.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534924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3E2438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54681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verification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576072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are re-checked on a set cadence and display their last-verified date.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4297680" y="534924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3E2438"/>
          </a:solidFill>
          <a:ln/>
        </p:spPr>
      </p:sp>
      <p:sp>
        <p:nvSpPr>
          <p:cNvPr id="11" name="Text 8"/>
          <p:cNvSpPr/>
          <p:nvPr/>
        </p:nvSpPr>
        <p:spPr>
          <a:xfrm>
            <a:off x="4498848" y="54681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active peer groups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498848" y="576072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tech burnout, caregiving, healthcare, neurodivergent spaces, and general burnout — with room to add your population.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8046720" y="534924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3E2438"/>
          </a:solidFill>
          <a:ln/>
        </p:spPr>
      </p:sp>
      <p:sp>
        <p:nvSpPr>
          <p:cNvPr id="14" name="Text 11"/>
          <p:cNvSpPr/>
          <p:nvPr/>
        </p:nvSpPr>
        <p:spPr>
          <a:xfrm>
            <a:off x="8247888" y="54681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Privacy-first, always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47888" y="576072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for seekers; no data shared with employers or third-party ad networks.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every kind of burnout in your population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engineer, a night-shift nurse, and an unpaid family caregiver don't need the same resource. escale segments by what someone is carrying, not a one-size-fits-all hotline.</a:t>
            </a:r>
            <a:endParaRPr lang="en-US" sz="1300" dirty="0"/>
          </a:p>
        </p:txBody>
      </p:sp>
      <p:pic>
        <p:nvPicPr>
          <p:cNvPr id="5" name="Image 0" descr="/mnt/user-data/uploads/1786525245849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11064240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029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browsing: workplace burnout, outdoor circles, mindful reset spaces, caregiver sanctuaries, and more.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5486400"/>
            <a:ext cx="35204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E2438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" y="55961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3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myself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58704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employees find their own match, fully anonymous.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297680" y="5486400"/>
            <a:ext cx="35204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E2438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98848" y="55961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3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someone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498848" y="58704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and family members route on behalf of someone they're worried about.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8046720" y="5486400"/>
            <a:ext cx="35204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E2438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47888" y="55961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3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work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47888" y="58704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and benefits teams point an entire team to escale as a first-line resource.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scale_deck/story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377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09160" y="0"/>
            <a:ext cx="274320" cy="6858000"/>
          </a:xfrm>
          <a:prstGeom prst="rect">
            <a:avLst/>
          </a:prstGeom>
          <a:solidFill>
            <a:srgbClr val="1E1526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21208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WORK TOGETHER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212080" y="9601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your people a clear next step.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212080" y="21488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looking for employer, health-plan, and community partners who want a fast, trustworthy on-ramp to support for the people they're responsible for — without building or maintaining it themselves.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212080" y="3246120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0" y="31272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access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0" y="337413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B39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escale entry point for your employees, members, or community, ready to launch.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212080" y="4069080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39502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resources included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0" y="419709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B39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EAP, benefits, or in-house programs added to the verified shortlist alongside ours.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5212080" y="4892040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0" y="47731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engagement reporting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0" y="502005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B39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Aggregate, anonymized usage trends — never individual identities — shared back with your team.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5212080" y="580644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5C3653"/>
          </a:solidFill>
          <a:ln/>
        </p:spPr>
      </p:sp>
      <p:sp>
        <p:nvSpPr>
          <p:cNvPr id="17" name="Text 14"/>
          <p:cNvSpPr/>
          <p:nvPr/>
        </p:nvSpPr>
        <p:spPr>
          <a:xfrm>
            <a:off x="5440680" y="58064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 about piloting escale with your people.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2026-08-12T11:49:43Z</dcterms:created>
  <dcterms:modified xsi:type="dcterms:W3CDTF">2026-08-12T11:49:43Z</dcterms:modified>
</cp:coreProperties>
</file>