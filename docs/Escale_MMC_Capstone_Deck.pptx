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20840" y="0"/>
            <a:ext cx="5440680" cy="6858000"/>
          </a:xfrm>
          <a:prstGeom prst="rect">
            <a:avLst/>
          </a:prstGeom>
          <a:solidFill>
            <a:srgbClr val="3E2438"/>
          </a:solidFill>
          <a:ln/>
        </p:spPr>
      </p:sp>
      <p:pic>
        <p:nvPicPr>
          <p:cNvPr id="3" name="Image 0" descr="/home/claude/escale_deck/hero_cropp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086600" y="1691640"/>
            <a:ext cx="4709160" cy="176479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086600" y="3611880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B39C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escale.app — landing experience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7086600" y="4069080"/>
            <a:ext cx="47091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“The light at the end of the tunnel is here. The path forward starts with a few honest answers.”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640080" y="64008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MMC PORTFOLIO CAPSTONE  ·  UX DESIGN TRACK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94360" y="1097280"/>
            <a:ext cx="5943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i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escale</a:t>
            </a:r>
            <a:endParaRPr lang="en-US" sz="5400" dirty="0"/>
          </a:p>
        </p:txBody>
      </p:sp>
      <p:sp>
        <p:nvSpPr>
          <p:cNvPr id="8" name="Text 5"/>
          <p:cNvSpPr/>
          <p:nvPr/>
        </p:nvSpPr>
        <p:spPr>
          <a:xfrm>
            <a:off x="640080" y="1965960"/>
            <a:ext cx="6035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Finding the Way Back from Burnout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640080" y="3063240"/>
            <a:ext cx="5852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D9CB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guided routing platform that matches burned-out professionals and caregivers with verified peer support groups and low-cost resources — in under two minutes.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40080" y="4251960"/>
            <a:ext cx="0" cy="457200"/>
          </a:xfrm>
          <a:prstGeom prst="line">
            <a:avLst/>
          </a:prstGeom>
          <a:noFill/>
          <a:ln w="19050">
            <a:solidFill>
              <a:srgbClr val="B98CA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22960" y="4224528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B9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SDG ALIGNMENT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822960" y="4434840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3 — Good Health &amp; Well-Being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640080" y="4818888"/>
            <a:ext cx="0" cy="457200"/>
          </a:xfrm>
          <a:prstGeom prst="line">
            <a:avLst/>
          </a:prstGeom>
          <a:noFill/>
          <a:ln w="19050">
            <a:solidFill>
              <a:srgbClr val="B98CA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960" y="4791456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B9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DISCIPLINE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822960" y="5001768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 Design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640080" y="5385816"/>
            <a:ext cx="0" cy="457200"/>
          </a:xfrm>
          <a:prstGeom prst="line">
            <a:avLst/>
          </a:prstGeom>
          <a:noFill/>
          <a:ln w="19050">
            <a:solidFill>
              <a:srgbClr val="B98CA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22960" y="5358384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B9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TYPE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822960" y="5568696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Capstone Project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640080" y="5952744"/>
            <a:ext cx="0" cy="457200"/>
          </a:xfrm>
          <a:prstGeom prst="line">
            <a:avLst/>
          </a:prstGeom>
          <a:noFill/>
          <a:ln w="19050">
            <a:solidFill>
              <a:srgbClr val="B98CAE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22960" y="5925312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B9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822960" y="6135624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Phase · Jul 13 – Aug 2, 2026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C9A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·  PROBLEM IDENTIFICATION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1F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Burnout is everywhere. Support is a maze.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B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Millions of professionals recognize their own exhaustion but stall at the very next step: finding help that actually fits their job, budget, and bandwidth.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251460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3E2438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2313432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5C365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76%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731520" y="2926080"/>
            <a:ext cx="2148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employees report experiencing burnout at least sometimes in their work (Gallup).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383280" y="2148840"/>
            <a:ext cx="251460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3E2438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566160" y="2313432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5C365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53%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3566160" y="2926080"/>
            <a:ext cx="2148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employees know how to access the mental-health support their employer already offers (NAMI).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217920" y="2148840"/>
            <a:ext cx="251460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3E2438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00800" y="2313432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5C365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1,000+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6400800" y="2926080"/>
            <a:ext cx="2148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results returned by a typical “burnout help near me” search — with no way to tell what fits.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4160520"/>
            <a:ext cx="8595360" cy="1965960"/>
          </a:xfrm>
          <a:prstGeom prst="roundRect">
            <a:avLst>
              <a:gd name="adj" fmla="val 5581"/>
            </a:avLst>
          </a:prstGeom>
          <a:solidFill>
            <a:srgbClr val="3E2438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43708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9A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EXISTING RESOURCES FAIL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68680" y="4754880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paralysis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68680" y="5074920"/>
            <a:ext cx="2514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D9CB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directories with no filtering by career stage, energy level, or budget leave people scrolling instead of healing.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593592" y="4754880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Dead, unverified links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593592" y="5074920"/>
            <a:ext cx="2514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D9CB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lists go stale; broken links and defunct groups erode trust at the exact moment someone reaches out.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318504" y="4754880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One-size-fits-all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318504" y="5074920"/>
            <a:ext cx="2514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D9CB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software engineer, a nurse, and an unpaid caregiver are pointed to the same generic hotline — none of it feels relevant.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C9A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·  RESEARCH AND ANALYSIS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1F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Listening before designing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6035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B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combined qualitative interviews, competitive audits, and a review of existing digital-mental-health directories to pinpoint exactly where seekers give up.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370332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3E2438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2560320"/>
            <a:ext cx="457200" cy="457200"/>
          </a:xfrm>
          <a:prstGeom prst="ellipse">
            <a:avLst/>
          </a:prstGeom>
          <a:solidFill>
            <a:srgbClr val="5C3653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560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417320" y="2532888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1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Interviews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" y="3108960"/>
            <a:ext cx="3246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informational interviews with burned-out tech workers, healthcare staff, and family caregivers about their last attempt to find support.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26280" y="2331720"/>
            <a:ext cx="370332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3E2438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2560320"/>
            <a:ext cx="457200" cy="457200"/>
          </a:xfrm>
          <a:prstGeom prst="ellipse">
            <a:avLst/>
          </a:prstGeom>
          <a:solidFill>
            <a:srgbClr val="5C3653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0" y="2560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394960" y="2532888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1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Audit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754880" y="3108960"/>
            <a:ext cx="3246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Reviewed 15+ directories, hotlines, and wellness apps; logged broken links, jargon-heavy copy, and missing budget filters.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48640" y="4297680"/>
            <a:ext cx="370332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3E2438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77240" y="4526280"/>
            <a:ext cx="457200" cy="457200"/>
          </a:xfrm>
          <a:prstGeom prst="ellipse">
            <a:avLst/>
          </a:prstGeom>
          <a:solidFill>
            <a:srgbClr val="5C3653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4526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417320" y="4498848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1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 Mapping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77240" y="5074920"/>
            <a:ext cx="3246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Synthesized findings into three journeys — corporate/tech, healthcare shift workers, and unpaid caregivers — each with distinct triggers and constraints.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26280" y="4297680"/>
            <a:ext cx="370332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3E2438">
                <a:alpha val="1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4526280"/>
            <a:ext cx="457200" cy="457200"/>
          </a:xfrm>
          <a:prstGeom prst="ellipse">
            <a:avLst/>
          </a:prstGeom>
          <a:solidFill>
            <a:srgbClr val="5C3653"/>
          </a:solidFill>
          <a:ln/>
        </p:spPr>
      </p:sp>
      <p:sp>
        <p:nvSpPr>
          <p:cNvPr id="22" name="Text 20"/>
          <p:cNvSpPr/>
          <p:nvPr/>
        </p:nvSpPr>
        <p:spPr>
          <a:xfrm>
            <a:off x="4754880" y="4526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394960" y="4498848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1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Insight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754880" y="5074920"/>
            <a:ext cx="3246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Cross-referenced open datasets (Global Health Observatory, Data.gov) on workplace stress prevalence to validate scope and urgency.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549640" y="2331720"/>
            <a:ext cx="3063240" cy="3703320"/>
          </a:xfrm>
          <a:prstGeom prst="roundRect">
            <a:avLst>
              <a:gd name="adj" fmla="val 2985"/>
            </a:avLst>
          </a:prstGeom>
          <a:solidFill>
            <a:srgbClr val="5C3653"/>
          </a:solidFill>
          <a:ln/>
        </p:spPr>
      </p:sp>
      <p:sp>
        <p:nvSpPr>
          <p:cNvPr id="26" name="Text 24"/>
          <p:cNvSpPr/>
          <p:nvPr/>
        </p:nvSpPr>
        <p:spPr>
          <a:xfrm>
            <a:off x="8778240" y="256032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C9A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8778240" y="288036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“Route me, don’t diagnose me.”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8778240" y="3794760"/>
            <a:ext cx="26517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AD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interviewee wanted a fast, low-effort match to real options — not another self-assessment that ends in a wall of text. This reframed the product from a “treatment app” into a lightweight, anonymous routing layer.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C9A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·  SOLUTION DEVELOPMENT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6035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1F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Introducing escale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5394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B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escale is a signpost, not a clinic. A two-minute, 100% anonymous quiz reads a person’s energy level, role, and preferred support style, then narrows thousands of possible resources down to a small, trustworthy shortlist.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743200"/>
            <a:ext cx="329184" cy="329184"/>
          </a:xfrm>
          <a:prstGeom prst="ellipse">
            <a:avLst/>
          </a:prstGeom>
          <a:solidFill>
            <a:srgbClr val="B98CAE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74320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1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05840" y="2688336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1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quiz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005840" y="2980944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6B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on energy &amp; screen fatigue, role type, and preferred support style (virtual, in-person, 1-on-1).</a:t>
            </a:r>
            <a:endParaRPr lang="en-US" sz="1080" dirty="0"/>
          </a:p>
        </p:txBody>
      </p:sp>
      <p:sp>
        <p:nvSpPr>
          <p:cNvPr id="9" name="Shape 7"/>
          <p:cNvSpPr/>
          <p:nvPr/>
        </p:nvSpPr>
        <p:spPr>
          <a:xfrm>
            <a:off x="548640" y="3703320"/>
            <a:ext cx="329184" cy="329184"/>
          </a:xfrm>
          <a:prstGeom prst="ellipse">
            <a:avLst/>
          </a:prstGeom>
          <a:solidFill>
            <a:srgbClr val="B98CAE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370332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1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05840" y="3648456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1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entry points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1005840" y="3941064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6B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“For myself,” “for someone,” and “for work” flows so caregivers and managers can route on someone else’s behalf.</a:t>
            </a:r>
            <a:endParaRPr lang="en-US" sz="1080" dirty="0"/>
          </a:p>
        </p:txBody>
      </p:sp>
      <p:sp>
        <p:nvSpPr>
          <p:cNvPr id="13" name="Shape 11"/>
          <p:cNvSpPr/>
          <p:nvPr/>
        </p:nvSpPr>
        <p:spPr>
          <a:xfrm>
            <a:off x="548640" y="4663440"/>
            <a:ext cx="329184" cy="329184"/>
          </a:xfrm>
          <a:prstGeom prst="ellipse">
            <a:avLst/>
          </a:prstGeom>
          <a:solidFill>
            <a:srgbClr val="B98CAE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466344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1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05840" y="4608576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1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Plain-language design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1005840" y="4901184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6B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clinical jargon — copy is written the way a trusted friend would explain the next step.</a:t>
            </a:r>
            <a:endParaRPr lang="en-US" sz="1080" dirty="0"/>
          </a:p>
        </p:txBody>
      </p:sp>
      <p:sp>
        <p:nvSpPr>
          <p:cNvPr id="17" name="Shape 15"/>
          <p:cNvSpPr/>
          <p:nvPr/>
        </p:nvSpPr>
        <p:spPr>
          <a:xfrm>
            <a:off x="6263640" y="685800"/>
            <a:ext cx="5349240" cy="5440680"/>
          </a:xfrm>
          <a:prstGeom prst="roundRect">
            <a:avLst>
              <a:gd name="adj" fmla="val 17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3E2438">
                <a:alpha val="20000"/>
              </a:srgbClr>
            </a:outerShdw>
          </a:effectLst>
        </p:spPr>
      </p:sp>
      <p:pic>
        <p:nvPicPr>
          <p:cNvPr id="18" name="Image 0" descr="/mnt/user-data/uploads/1786525189270_imag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46520" y="1417320"/>
            <a:ext cx="4983480" cy="214884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6446520" y="3657600"/>
            <a:ext cx="4983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quiz landing screen — reduces a wall of resources to one guided path.</a:t>
            </a:r>
            <a:endParaRPr lang="en-US" sz="1000" dirty="0"/>
          </a:p>
        </p:txBody>
      </p:sp>
      <p:pic>
        <p:nvPicPr>
          <p:cNvPr id="20" name="Image 1" descr="/mnt/user-data/uploads/1786525207660_image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446520" y="4206240"/>
            <a:ext cx="4983480" cy="178308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C9A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·  SOLUTION DEVELOPMENT (CONT.)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6858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Trust, verified down to the date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6217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D9CB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peer group, digital tool, and professional resource in escale is actively vetted and time-stamped — no dead links, no guesswork.</a:t>
            </a:r>
            <a:endParaRPr lang="en-US" sz="1300" dirty="0"/>
          </a:p>
        </p:txBody>
      </p:sp>
      <p:pic>
        <p:nvPicPr>
          <p:cNvPr id="5" name="Image 0" descr="/mnt/user-data/uploads/1786525281149_imag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965960"/>
            <a:ext cx="11064240" cy="2834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486460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39C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browse view: verified peer communities, each showing a facilitator, schedule, and “Verified” badge.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5349240"/>
            <a:ext cx="3520440" cy="1143000"/>
          </a:xfrm>
          <a:prstGeom prst="roundRect">
            <a:avLst>
              <a:gd name="adj" fmla="val 8000"/>
            </a:avLst>
          </a:prstGeom>
          <a:solidFill>
            <a:srgbClr val="3E2438"/>
          </a:solidFill>
          <a:ln/>
        </p:spPr>
      </p:sp>
      <p:sp>
        <p:nvSpPr>
          <p:cNvPr id="8" name="Text 5"/>
          <p:cNvSpPr/>
          <p:nvPr/>
        </p:nvSpPr>
        <p:spPr>
          <a:xfrm>
            <a:off x="749808" y="5468112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9A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Aug 2026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49808" y="5760720"/>
            <a:ext cx="3108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80" dirty="0">
                <a:solidFill>
                  <a:srgbClr val="D9CB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listing is re-checked on a recurring cadence and displays its last-verified date.</a:t>
            </a:r>
            <a:endParaRPr lang="en-US" sz="980" dirty="0"/>
          </a:p>
        </p:txBody>
      </p:sp>
      <p:sp>
        <p:nvSpPr>
          <p:cNvPr id="10" name="Shape 7"/>
          <p:cNvSpPr/>
          <p:nvPr/>
        </p:nvSpPr>
        <p:spPr>
          <a:xfrm>
            <a:off x="4297680" y="5349240"/>
            <a:ext cx="3520440" cy="1143000"/>
          </a:xfrm>
          <a:prstGeom prst="roundRect">
            <a:avLst>
              <a:gd name="adj" fmla="val 8000"/>
            </a:avLst>
          </a:prstGeom>
          <a:solidFill>
            <a:srgbClr val="3E2438"/>
          </a:solidFill>
          <a:ln/>
        </p:spPr>
      </p:sp>
      <p:sp>
        <p:nvSpPr>
          <p:cNvPr id="11" name="Text 8"/>
          <p:cNvSpPr/>
          <p:nvPr/>
        </p:nvSpPr>
        <p:spPr>
          <a:xfrm>
            <a:off x="4498848" y="5468112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9A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 active peer groups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4498848" y="5760720"/>
            <a:ext cx="3108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80" dirty="0">
                <a:solidFill>
                  <a:srgbClr val="D9CB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Spanning tech burnout, caregiving, healthcare, neurodivergent spaces, and general burnout.</a:t>
            </a:r>
            <a:endParaRPr lang="en-US" sz="980" dirty="0"/>
          </a:p>
        </p:txBody>
      </p:sp>
      <p:sp>
        <p:nvSpPr>
          <p:cNvPr id="13" name="Shape 10"/>
          <p:cNvSpPr/>
          <p:nvPr/>
        </p:nvSpPr>
        <p:spPr>
          <a:xfrm>
            <a:off x="8046720" y="5349240"/>
            <a:ext cx="3520440" cy="1143000"/>
          </a:xfrm>
          <a:prstGeom prst="roundRect">
            <a:avLst>
              <a:gd name="adj" fmla="val 8000"/>
            </a:avLst>
          </a:prstGeom>
          <a:solidFill>
            <a:srgbClr val="3E2438"/>
          </a:solidFill>
          <a:ln/>
        </p:spPr>
      </p:sp>
      <p:sp>
        <p:nvSpPr>
          <p:cNvPr id="14" name="Text 11"/>
          <p:cNvSpPr/>
          <p:nvPr/>
        </p:nvSpPr>
        <p:spPr>
          <a:xfrm>
            <a:off x="8247888" y="5468112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9A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Privacy-first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8247888" y="5760720"/>
            <a:ext cx="3108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80" dirty="0">
                <a:solidFill>
                  <a:srgbClr val="D9CB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free for seekers; no data sharing with employers or third-party ad networks.</a:t>
            </a:r>
            <a:endParaRPr lang="en-US" sz="980" dirty="0"/>
          </a:p>
        </p:txBody>
      </p:sp>
      <p:sp>
        <p:nvSpPr>
          <p:cNvPr id="16" name="Text 13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C9A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·  IMPLEMENTATION PLAN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1F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prototype to public launch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260604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3E2438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2148840"/>
            <a:ext cx="2606040" cy="73152"/>
          </a:xfrm>
          <a:prstGeom prst="rect">
            <a:avLst/>
          </a:prstGeom>
          <a:solidFill>
            <a:srgbClr val="5C3653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2350008"/>
            <a:ext cx="2240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C9A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49808" y="2606040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B1F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&amp; Planning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49808" y="3200400"/>
            <a:ext cx="220370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B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Finalize personas, information architecture, and the quiz-logic decision tree; select the initial 4 resource categories.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355848" y="2148840"/>
            <a:ext cx="260604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3E2438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55848" y="2148840"/>
            <a:ext cx="2606040" cy="73152"/>
          </a:xfrm>
          <a:prstGeom prst="rect">
            <a:avLst/>
          </a:prstGeom>
          <a:solidFill>
            <a:srgbClr val="5C3653"/>
          </a:solidFill>
          <a:ln/>
        </p:spPr>
      </p:sp>
      <p:sp>
        <p:nvSpPr>
          <p:cNvPr id="11" name="Text 9"/>
          <p:cNvSpPr/>
          <p:nvPr/>
        </p:nvSpPr>
        <p:spPr>
          <a:xfrm>
            <a:off x="3557016" y="2350008"/>
            <a:ext cx="2240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C9A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557016" y="2606040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B1F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&amp; Prototype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3557016" y="3200400"/>
            <a:ext cx="220370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B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high-fidelity screens (home, quiz, browse, listing detail); usability-test the quiz flow with 5–8 target users.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63056" y="2148840"/>
            <a:ext cx="260604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3E2438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63056" y="2148840"/>
            <a:ext cx="2606040" cy="73152"/>
          </a:xfrm>
          <a:prstGeom prst="rect">
            <a:avLst/>
          </a:prstGeom>
          <a:solidFill>
            <a:srgbClr val="5C3653"/>
          </a:solidFill>
          <a:ln/>
        </p:spPr>
      </p:sp>
      <p:sp>
        <p:nvSpPr>
          <p:cNvPr id="16" name="Text 14"/>
          <p:cNvSpPr/>
          <p:nvPr/>
        </p:nvSpPr>
        <p:spPr>
          <a:xfrm>
            <a:off x="6364224" y="2350008"/>
            <a:ext cx="2240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C9A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364224" y="2606040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B1F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&amp; Populate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6364224" y="3200400"/>
            <a:ext cx="220370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B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the routing quiz and browse/search interface; source and verify the first 48 peer-group and resource listings.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970264" y="2148840"/>
            <a:ext cx="260604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3E2438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970264" y="2148840"/>
            <a:ext cx="2606040" cy="73152"/>
          </a:xfrm>
          <a:prstGeom prst="rect">
            <a:avLst/>
          </a:prstGeom>
          <a:solidFill>
            <a:srgbClr val="5C3653"/>
          </a:solidFill>
          <a:ln/>
        </p:spPr>
      </p:sp>
      <p:sp>
        <p:nvSpPr>
          <p:cNvPr id="21" name="Text 19"/>
          <p:cNvSpPr/>
          <p:nvPr/>
        </p:nvSpPr>
        <p:spPr>
          <a:xfrm>
            <a:off x="9171432" y="2350008"/>
            <a:ext cx="2240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C9A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171432" y="2606040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B1F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Launch &amp; Evaluate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9171432" y="3200400"/>
            <a:ext cx="220370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B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the MVP, monitor quiz completion and match-click-through rates, and refresh verification dates on a recurring cycle.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48640" y="4754880"/>
            <a:ext cx="11064240" cy="1417320"/>
          </a:xfrm>
          <a:prstGeom prst="roundRect">
            <a:avLst>
              <a:gd name="adj" fmla="val 6452"/>
            </a:avLst>
          </a:prstGeom>
          <a:solidFill>
            <a:srgbClr val="3E2438"/>
          </a:solidFill>
          <a:ln/>
        </p:spPr>
      </p:sp>
      <p:sp>
        <p:nvSpPr>
          <p:cNvPr id="25" name="Text 23"/>
          <p:cNvSpPr/>
          <p:nvPr/>
        </p:nvSpPr>
        <p:spPr>
          <a:xfrm>
            <a:off x="822960" y="491947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C9A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MANAGEMENT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822960" y="523036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initial listing supply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22960" y="5468112"/>
            <a:ext cx="33832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9CB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 facilitators via warm outreach before launch; require a minimum of 3 listings per category before go-live.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434840" y="523036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Listings go stale post-launch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434840" y="5468112"/>
            <a:ext cx="33832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9CB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90-day verification reminders keep the “Verified” badge and date accurate.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046720" y="523036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mistake it for a clinic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046720" y="5468112"/>
            <a:ext cx="33832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9CB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“we route, we don’t treat” messaging and a visible Crisis Help link in the nav.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C9A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·  IMPACT &amp; OUTCOMES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B1F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Designed for Goal 3: Good Health &amp; Well-Being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B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escale advances UN SDG 3 by closing the gap between recognizing burnout and actually reaching support — especially for populations underserved by traditional employer benefits.</a:t>
            </a:r>
            <a:endParaRPr lang="en-US" sz="1300" dirty="0"/>
          </a:p>
        </p:txBody>
      </p:sp>
      <p:pic>
        <p:nvPicPr>
          <p:cNvPr id="5" name="Image 0" descr="/mnt/user-data/uploads/1786525245849_imag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2148840"/>
            <a:ext cx="7315200" cy="2788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4983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Segmented browsing lets tech workers, caregivers, and healthcare staff each find a community built for their specific strain.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8183880" y="2194560"/>
            <a:ext cx="342900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3E2438">
                <a:alpha val="1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366760" y="2286000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3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time-to-support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366760" y="2542032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B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2-minute quiz replaces hours of directory scrolling with a short, curated shortlist.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8183880" y="3246120"/>
            <a:ext cx="342900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3E2438">
                <a:alpha val="15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8366760" y="3337560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3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Equity of access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8366760" y="3593592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B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Free-for-seekers model and a caregiver/navigator toggle extend reach to people who can’t self-advocate.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8183880" y="4297680"/>
            <a:ext cx="342900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3E2438">
                <a:alpha val="15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8366760" y="4389120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3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Sustained trust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8366760" y="4645152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B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verification keeps every listed resource live, current, and safe to recommend.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escale_deck/story_cropp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493776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709160" y="0"/>
            <a:ext cx="274320" cy="6858000"/>
          </a:xfrm>
          <a:prstGeom prst="rect">
            <a:avLst/>
          </a:prstGeom>
          <a:solidFill>
            <a:srgbClr val="1E1526">
              <a:alpha val="70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5212080" y="5943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C9A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·  DOCUMENTATION &amp; NEXT STEPS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212080" y="960120"/>
            <a:ext cx="6400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6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map was broken, so we drew a new one.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5212080" y="2148840"/>
            <a:ext cx="6400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D9CB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documentation — problem statement, research synthesis, solution rationale, and implementation plan — is compiled in an 8-page project report, paired with an 8-slide / 5-minute video walkthrough for submission.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5212080" y="3246120"/>
            <a:ext cx="128016" cy="128016"/>
          </a:xfrm>
          <a:prstGeom prst="ellipse">
            <a:avLst/>
          </a:prstGeom>
          <a:solidFill>
            <a:srgbClr val="C9A15A"/>
          </a:solidFill>
          <a:ln/>
        </p:spPr>
      </p:sp>
      <p:sp>
        <p:nvSpPr>
          <p:cNvPr id="8" name="Text 5"/>
          <p:cNvSpPr/>
          <p:nvPr/>
        </p:nvSpPr>
        <p:spPr>
          <a:xfrm>
            <a:off x="5486400" y="3127248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report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486400" y="3374136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B39C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pages · problem, research, solution, implementation, outcomes</a:t>
            </a:r>
            <a:endParaRPr lang="en-US" sz="1030" dirty="0"/>
          </a:p>
        </p:txBody>
      </p:sp>
      <p:sp>
        <p:nvSpPr>
          <p:cNvPr id="10" name="Shape 7"/>
          <p:cNvSpPr/>
          <p:nvPr/>
        </p:nvSpPr>
        <p:spPr>
          <a:xfrm>
            <a:off x="5212080" y="3959352"/>
            <a:ext cx="128016" cy="128016"/>
          </a:xfrm>
          <a:prstGeom prst="ellipse">
            <a:avLst/>
          </a:prstGeom>
          <a:solidFill>
            <a:srgbClr val="C9A15A"/>
          </a:solidFill>
          <a:ln/>
        </p:spPr>
      </p:sp>
      <p:sp>
        <p:nvSpPr>
          <p:cNvPr id="11" name="Text 8"/>
          <p:cNvSpPr/>
          <p:nvPr/>
        </p:nvSpPr>
        <p:spPr>
          <a:xfrm>
            <a:off x="5486400" y="384048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walkthrough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5486400" y="4087368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B39C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minutes · team intro, findings, and live product demo</a:t>
            </a:r>
            <a:endParaRPr lang="en-US" sz="1030" dirty="0"/>
          </a:p>
        </p:txBody>
      </p:sp>
      <p:sp>
        <p:nvSpPr>
          <p:cNvPr id="13" name="Shape 10"/>
          <p:cNvSpPr/>
          <p:nvPr/>
        </p:nvSpPr>
        <p:spPr>
          <a:xfrm>
            <a:off x="5212080" y="4672584"/>
            <a:ext cx="128016" cy="128016"/>
          </a:xfrm>
          <a:prstGeom prst="ellipse">
            <a:avLst/>
          </a:prstGeom>
          <a:solidFill>
            <a:srgbClr val="C9A15A"/>
          </a:solidFill>
          <a:ln/>
        </p:spPr>
      </p:sp>
      <p:sp>
        <p:nvSpPr>
          <p:cNvPr id="14" name="Text 11"/>
          <p:cNvSpPr/>
          <p:nvPr/>
        </p:nvSpPr>
        <p:spPr>
          <a:xfrm>
            <a:off x="5486400" y="4553712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5486400" y="480060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B39C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PDF, deck, or video via the MMC capstone form by Aug 6, 2026, 11:59 PM EST</a:t>
            </a:r>
            <a:endParaRPr lang="en-US" sz="1030" dirty="0"/>
          </a:p>
        </p:txBody>
      </p:sp>
      <p:sp>
        <p:nvSpPr>
          <p:cNvPr id="16" name="Shape 13"/>
          <p:cNvSpPr/>
          <p:nvPr/>
        </p:nvSpPr>
        <p:spPr>
          <a:xfrm>
            <a:off x="5212080" y="5623560"/>
            <a:ext cx="6400800" cy="914400"/>
          </a:xfrm>
          <a:prstGeom prst="roundRect">
            <a:avLst>
              <a:gd name="adj" fmla="val 10000"/>
            </a:avLst>
          </a:prstGeom>
          <a:solidFill>
            <a:srgbClr val="5C3653"/>
          </a:solidFill>
          <a:ln/>
        </p:spPr>
      </p:sp>
      <p:sp>
        <p:nvSpPr>
          <p:cNvPr id="17" name="Text 14"/>
          <p:cNvSpPr/>
          <p:nvPr/>
        </p:nvSpPr>
        <p:spPr>
          <a:xfrm>
            <a:off x="5440680" y="5623560"/>
            <a:ext cx="5943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 — questions welcome.</a:t>
            </a:r>
            <a:endParaRPr lang="en-US" sz="1700" dirty="0"/>
          </a:p>
        </p:txBody>
      </p:sp>
      <p:sp>
        <p:nvSpPr>
          <p:cNvPr id="18" name="Text 15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2026-08-12T09:07:56Z</dcterms:created>
  <dcterms:modified xsi:type="dcterms:W3CDTF">2026-08-12T09:07:56Z</dcterms:modified>
</cp:coreProperties>
</file>